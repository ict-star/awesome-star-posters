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30275213" cy="42803763"/>
  <p:notesSz cx="6858000" cy="9144000"/>
  <p:defaultTextStyle>
    <a:defPPr>
      <a:defRPr lang="de-DE"/>
    </a:defPPr>
    <a:lvl1pPr marL="0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1pPr>
    <a:lvl2pPr marL="1945005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2pPr>
    <a:lvl3pPr marL="3889375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3pPr>
    <a:lvl4pPr marL="5834380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4pPr>
    <a:lvl5pPr marL="7779385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5pPr>
    <a:lvl6pPr marL="9724390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6pPr>
    <a:lvl7pPr marL="11668760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7pPr>
    <a:lvl8pPr marL="13613765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8pPr>
    <a:lvl9pPr marL="15558770" algn="l" defTabSz="3889375" rtl="0" eaLnBrk="1" latinLnBrk="0" hangingPunct="1">
      <a:defRPr sz="765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63" userDrawn="1">
          <p15:clr>
            <a:srgbClr val="A4A3A4"/>
          </p15:clr>
        </p15:guide>
        <p15:guide id="2" pos="95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75E"/>
    <a:srgbClr val="466F97"/>
    <a:srgbClr val="C55A11"/>
    <a:srgbClr val="A5CDF7"/>
    <a:srgbClr val="97B8DA"/>
    <a:srgbClr val="2A566E"/>
    <a:srgbClr val="C1DEEE"/>
    <a:srgbClr val="61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4"/>
    <p:restoredTop sz="94633"/>
  </p:normalViewPr>
  <p:slideViewPr>
    <p:cSldViewPr snapToGrid="0" snapToObjects="1" showGuides="1">
      <p:cViewPr>
        <p:scale>
          <a:sx n="51" d="100"/>
          <a:sy n="51" d="100"/>
        </p:scale>
        <p:origin x="2304" y="144"/>
      </p:cViewPr>
      <p:guideLst>
        <p:guide orient="horz" pos="13263"/>
        <p:guide pos="9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7574" y="1143000"/>
            <a:ext cx="218285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84570" y="7005370"/>
            <a:ext cx="22707422" cy="14902505"/>
          </a:xfrm>
        </p:spPr>
        <p:txBody>
          <a:bodyPr anchor="b"/>
          <a:lstStyle>
            <a:lvl1pPr algn="ctr">
              <a:defRPr sz="18740" b="1"/>
            </a:lvl1pPr>
          </a:lstStyle>
          <a:p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84570" y="22482573"/>
            <a:ext cx="22707422" cy="10334647"/>
          </a:xfrm>
        </p:spPr>
        <p:txBody>
          <a:bodyPr/>
          <a:lstStyle>
            <a:lvl1pPr marL="0" indent="0" algn="ctr">
              <a:buNone/>
              <a:defRPr sz="7495"/>
            </a:lvl1pPr>
            <a:lvl2pPr marL="1428115" indent="0" algn="ctr">
              <a:buNone/>
              <a:defRPr sz="6245"/>
            </a:lvl2pPr>
            <a:lvl3pPr marL="2854960" indent="0" algn="ctr">
              <a:buNone/>
              <a:defRPr sz="5620"/>
            </a:lvl3pPr>
            <a:lvl4pPr marL="4283075" indent="0" algn="ctr">
              <a:buNone/>
              <a:defRPr sz="5000"/>
            </a:lvl4pPr>
            <a:lvl5pPr marL="5711190" indent="0" algn="ctr">
              <a:buNone/>
              <a:defRPr sz="5000"/>
            </a:lvl5pPr>
            <a:lvl6pPr marL="7138035" indent="0" algn="ctr">
              <a:buNone/>
              <a:defRPr sz="5000"/>
            </a:lvl6pPr>
            <a:lvl7pPr marL="8566150" indent="0" algn="ctr">
              <a:buNone/>
              <a:defRPr sz="5000"/>
            </a:lvl7pPr>
            <a:lvl8pPr marL="9993630" indent="0" algn="ctr">
              <a:buNone/>
              <a:defRPr sz="5000"/>
            </a:lvl8pPr>
            <a:lvl9pPr marL="11421745" indent="0" algn="ctr">
              <a:buNone/>
              <a:defRPr sz="5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65745" y="10671547"/>
            <a:ext cx="26113535" cy="17805716"/>
          </a:xfrm>
        </p:spPr>
        <p:txBody>
          <a:bodyPr anchor="b"/>
          <a:lstStyle>
            <a:lvl1pPr>
              <a:defRPr sz="1874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65745" y="28645713"/>
            <a:ext cx="26113535" cy="9363606"/>
          </a:xfrm>
        </p:spPr>
        <p:txBody>
          <a:bodyPr/>
          <a:lstStyle>
            <a:lvl1pPr marL="0" indent="0">
              <a:buNone/>
              <a:defRPr sz="7495">
                <a:solidFill>
                  <a:schemeClr val="tx1">
                    <a:tint val="75000"/>
                  </a:schemeClr>
                </a:solidFill>
              </a:defRPr>
            </a:lvl1pPr>
            <a:lvl2pPr marL="1428115" indent="0">
              <a:buNone/>
              <a:defRPr sz="6245">
                <a:solidFill>
                  <a:schemeClr val="tx1">
                    <a:tint val="75000"/>
                  </a:schemeClr>
                </a:solidFill>
              </a:defRPr>
            </a:lvl2pPr>
            <a:lvl3pPr marL="2854960" indent="0">
              <a:buNone/>
              <a:defRPr sz="5620">
                <a:solidFill>
                  <a:schemeClr val="tx1">
                    <a:tint val="75000"/>
                  </a:schemeClr>
                </a:solidFill>
              </a:defRPr>
            </a:lvl3pPr>
            <a:lvl4pPr marL="4283075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4pPr>
            <a:lvl5pPr marL="5711190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5pPr>
            <a:lvl6pPr marL="7138035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6pPr>
            <a:lvl7pPr marL="8566150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7pPr>
            <a:lvl8pPr marL="9993630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8pPr>
            <a:lvl9pPr marL="11421745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081514" y="11394869"/>
            <a:ext cx="12867538" cy="27159424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327509" y="11394869"/>
            <a:ext cx="12867538" cy="27159424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5457" y="2278977"/>
            <a:ext cx="26113535" cy="82736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85459" y="10493190"/>
            <a:ext cx="12808404" cy="5142550"/>
          </a:xfrm>
        </p:spPr>
        <p:txBody>
          <a:bodyPr anchor="b"/>
          <a:lstStyle>
            <a:lvl1pPr marL="0" indent="0">
              <a:buNone/>
              <a:defRPr sz="7495" b="1"/>
            </a:lvl1pPr>
            <a:lvl2pPr marL="1428115" indent="0">
              <a:buNone/>
              <a:defRPr sz="6245" b="1"/>
            </a:lvl2pPr>
            <a:lvl3pPr marL="2854960" indent="0">
              <a:buNone/>
              <a:defRPr sz="5620" b="1"/>
            </a:lvl3pPr>
            <a:lvl4pPr marL="4283075" indent="0">
              <a:buNone/>
              <a:defRPr sz="5000" b="1"/>
            </a:lvl4pPr>
            <a:lvl5pPr marL="5711190" indent="0">
              <a:buNone/>
              <a:defRPr sz="5000" b="1"/>
            </a:lvl5pPr>
            <a:lvl6pPr marL="7138035" indent="0">
              <a:buNone/>
              <a:defRPr sz="5000" b="1"/>
            </a:lvl6pPr>
            <a:lvl7pPr marL="8566150" indent="0">
              <a:buNone/>
              <a:defRPr sz="5000" b="1"/>
            </a:lvl7pPr>
            <a:lvl8pPr marL="9993630" indent="0">
              <a:buNone/>
              <a:defRPr sz="5000" b="1"/>
            </a:lvl8pPr>
            <a:lvl9pPr marL="11421745" indent="0">
              <a:buNone/>
              <a:defRPr sz="5000" b="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85459" y="15635742"/>
            <a:ext cx="12808404" cy="22997819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5327509" y="10493190"/>
            <a:ext cx="12871483" cy="5142550"/>
          </a:xfrm>
        </p:spPr>
        <p:txBody>
          <a:bodyPr anchor="b"/>
          <a:lstStyle>
            <a:lvl1pPr marL="0" indent="0">
              <a:buNone/>
              <a:defRPr sz="7495" b="1"/>
            </a:lvl1pPr>
            <a:lvl2pPr marL="1428115" indent="0">
              <a:buNone/>
              <a:defRPr sz="6245" b="1"/>
            </a:lvl2pPr>
            <a:lvl3pPr marL="2854960" indent="0">
              <a:buNone/>
              <a:defRPr sz="5620" b="1"/>
            </a:lvl3pPr>
            <a:lvl4pPr marL="4283075" indent="0">
              <a:buNone/>
              <a:defRPr sz="5000" b="1"/>
            </a:lvl4pPr>
            <a:lvl5pPr marL="5711190" indent="0">
              <a:buNone/>
              <a:defRPr sz="5000" b="1"/>
            </a:lvl5pPr>
            <a:lvl6pPr marL="7138035" indent="0">
              <a:buNone/>
              <a:defRPr sz="5000" b="1"/>
            </a:lvl6pPr>
            <a:lvl7pPr marL="8566150" indent="0">
              <a:buNone/>
              <a:defRPr sz="5000" b="1"/>
            </a:lvl7pPr>
            <a:lvl8pPr marL="9993630" indent="0">
              <a:buNone/>
              <a:defRPr sz="5000" b="1"/>
            </a:lvl8pPr>
            <a:lvl9pPr marL="11421745" indent="0">
              <a:buNone/>
              <a:defRPr sz="5000" b="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5327509" y="15635742"/>
            <a:ext cx="12871483" cy="22997819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5459" y="2853672"/>
            <a:ext cx="9764978" cy="9987849"/>
          </a:xfrm>
        </p:spPr>
        <p:txBody>
          <a:bodyPr anchor="b"/>
          <a:lstStyle>
            <a:lvl1pPr>
              <a:defRPr sz="99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71483" y="6163140"/>
            <a:ext cx="15327509" cy="30419344"/>
          </a:xfrm>
        </p:spPr>
        <p:txBody>
          <a:bodyPr/>
          <a:lstStyle>
            <a:lvl1pPr>
              <a:defRPr sz="9990"/>
            </a:lvl1pPr>
            <a:lvl2pPr>
              <a:defRPr sz="8745"/>
            </a:lvl2pPr>
            <a:lvl3pPr>
              <a:defRPr sz="7495"/>
            </a:lvl3pPr>
            <a:lvl4pPr>
              <a:defRPr sz="6245"/>
            </a:lvl4pPr>
            <a:lvl5pPr>
              <a:defRPr sz="6245"/>
            </a:lvl5pPr>
            <a:lvl6pPr>
              <a:defRPr sz="6245"/>
            </a:lvl6pPr>
            <a:lvl7pPr>
              <a:defRPr sz="6245"/>
            </a:lvl7pPr>
            <a:lvl8pPr>
              <a:defRPr sz="6245"/>
            </a:lvl8pPr>
            <a:lvl9pPr>
              <a:defRPr sz="6245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085459" y="12841521"/>
            <a:ext cx="9764978" cy="23790505"/>
          </a:xfrm>
        </p:spPr>
        <p:txBody>
          <a:bodyPr/>
          <a:lstStyle>
            <a:lvl1pPr marL="0" indent="0">
              <a:buNone/>
              <a:defRPr sz="5000"/>
            </a:lvl1pPr>
            <a:lvl2pPr marL="1428115" indent="0">
              <a:buNone/>
              <a:defRPr sz="4375"/>
            </a:lvl2pPr>
            <a:lvl3pPr marL="2854960" indent="0">
              <a:buNone/>
              <a:defRPr sz="3740"/>
            </a:lvl3pPr>
            <a:lvl4pPr marL="4283075" indent="0">
              <a:buNone/>
              <a:defRPr sz="3125"/>
            </a:lvl4pPr>
            <a:lvl5pPr marL="5711190" indent="0">
              <a:buNone/>
              <a:defRPr sz="3125"/>
            </a:lvl5pPr>
            <a:lvl6pPr marL="7138035" indent="0">
              <a:buNone/>
              <a:defRPr sz="3125"/>
            </a:lvl6pPr>
            <a:lvl7pPr marL="8566150" indent="0">
              <a:buNone/>
              <a:defRPr sz="3125"/>
            </a:lvl7pPr>
            <a:lvl8pPr marL="9993630" indent="0">
              <a:buNone/>
              <a:defRPr sz="3125"/>
            </a:lvl8pPr>
            <a:lvl9pPr marL="11421745" indent="0">
              <a:buNone/>
              <a:defRPr sz="3125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5459" y="2853672"/>
            <a:ext cx="9764978" cy="9987849"/>
          </a:xfrm>
        </p:spPr>
        <p:txBody>
          <a:bodyPr anchor="b"/>
          <a:lstStyle>
            <a:lvl1pPr>
              <a:defRPr sz="99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1483" y="6163140"/>
            <a:ext cx="15327509" cy="30419344"/>
          </a:xfrm>
        </p:spPr>
        <p:txBody>
          <a:bodyPr anchor="t"/>
          <a:lstStyle>
            <a:lvl1pPr marL="0" indent="0">
              <a:buNone/>
              <a:defRPr sz="9990"/>
            </a:lvl1pPr>
            <a:lvl2pPr marL="1428115" indent="0">
              <a:buNone/>
              <a:defRPr sz="8745"/>
            </a:lvl2pPr>
            <a:lvl3pPr marL="2854960" indent="0">
              <a:buNone/>
              <a:defRPr sz="7495"/>
            </a:lvl3pPr>
            <a:lvl4pPr marL="4283075" indent="0">
              <a:buNone/>
              <a:defRPr sz="6245"/>
            </a:lvl4pPr>
            <a:lvl5pPr marL="5711190" indent="0">
              <a:buNone/>
              <a:defRPr sz="6245"/>
            </a:lvl5pPr>
            <a:lvl6pPr marL="7138035" indent="0">
              <a:buNone/>
              <a:defRPr sz="6245"/>
            </a:lvl6pPr>
            <a:lvl7pPr marL="8566150" indent="0">
              <a:buNone/>
              <a:defRPr sz="6245"/>
            </a:lvl7pPr>
            <a:lvl8pPr marL="9993630" indent="0">
              <a:buNone/>
              <a:defRPr sz="6245"/>
            </a:lvl8pPr>
            <a:lvl9pPr marL="11421745" indent="0">
              <a:buNone/>
              <a:defRPr sz="624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085459" y="12841521"/>
            <a:ext cx="9764978" cy="23790505"/>
          </a:xfrm>
        </p:spPr>
        <p:txBody>
          <a:bodyPr/>
          <a:lstStyle>
            <a:lvl1pPr marL="0" indent="0">
              <a:buNone/>
              <a:defRPr sz="5000"/>
            </a:lvl1pPr>
            <a:lvl2pPr marL="1428115" indent="0">
              <a:buNone/>
              <a:defRPr sz="4375"/>
            </a:lvl2pPr>
            <a:lvl3pPr marL="2854960" indent="0">
              <a:buNone/>
              <a:defRPr sz="3740"/>
            </a:lvl3pPr>
            <a:lvl4pPr marL="4283075" indent="0">
              <a:buNone/>
              <a:defRPr sz="3125"/>
            </a:lvl4pPr>
            <a:lvl5pPr marL="5711190" indent="0">
              <a:buNone/>
              <a:defRPr sz="3125"/>
            </a:lvl5pPr>
            <a:lvl6pPr marL="7138035" indent="0">
              <a:buNone/>
              <a:defRPr sz="3125"/>
            </a:lvl6pPr>
            <a:lvl7pPr marL="8566150" indent="0">
              <a:buNone/>
              <a:defRPr sz="3125"/>
            </a:lvl7pPr>
            <a:lvl8pPr marL="9993630" indent="0">
              <a:buNone/>
              <a:defRPr sz="3125"/>
            </a:lvl8pPr>
            <a:lvl9pPr marL="11421745" indent="0">
              <a:buNone/>
              <a:defRPr sz="3125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21666664" y="2278974"/>
            <a:ext cx="6528383" cy="3627531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081513" y="2278974"/>
            <a:ext cx="19206694" cy="36275318"/>
          </a:xfrm>
        </p:spPr>
        <p:txBody>
          <a:bodyPr vert="eaVert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514" y="2278977"/>
            <a:ext cx="26113535" cy="8273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14" y="11394869"/>
            <a:ext cx="26113535" cy="27159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514" y="39673960"/>
            <a:ext cx="6812227" cy="2278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3399-2F7C-0249-BC81-4008E155B995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9111" y="39673960"/>
            <a:ext cx="10218340" cy="2278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2822" y="39673960"/>
            <a:ext cx="6812227" cy="2278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54960" rtl="0" eaLnBrk="1" latinLnBrk="0" hangingPunct="1">
        <a:lnSpc>
          <a:spcPct val="90000"/>
        </a:lnSpc>
        <a:spcBef>
          <a:spcPct val="0"/>
        </a:spcBef>
        <a:buNone/>
        <a:defRPr sz="1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3740" indent="-713740" algn="l" defTabSz="2854960" rtl="0" eaLnBrk="1" latinLnBrk="0" hangingPunct="1">
        <a:lnSpc>
          <a:spcPct val="90000"/>
        </a:lnSpc>
        <a:spcBef>
          <a:spcPct val="625000"/>
        </a:spcBef>
        <a:buFont typeface="Arial" panose="020B0704020202020204" pitchFamily="34" charset="0"/>
        <a:buChar char="•"/>
        <a:defRPr sz="8745" kern="1200">
          <a:solidFill>
            <a:schemeClr val="tx1"/>
          </a:solidFill>
          <a:latin typeface="+mn-lt"/>
          <a:ea typeface="+mn-ea"/>
          <a:cs typeface="+mn-cs"/>
        </a:defRPr>
      </a:lvl1pPr>
      <a:lvl2pPr marL="2141220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7495" kern="1200">
          <a:solidFill>
            <a:schemeClr val="tx1"/>
          </a:solidFill>
          <a:latin typeface="+mn-lt"/>
          <a:ea typeface="+mn-ea"/>
          <a:cs typeface="+mn-cs"/>
        </a:defRPr>
      </a:lvl2pPr>
      <a:lvl3pPr marL="3569335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6245" kern="1200">
          <a:solidFill>
            <a:schemeClr val="tx1"/>
          </a:solidFill>
          <a:latin typeface="+mn-lt"/>
          <a:ea typeface="+mn-ea"/>
          <a:cs typeface="+mn-cs"/>
        </a:defRPr>
      </a:lvl3pPr>
      <a:lvl4pPr marL="4997450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4pPr>
      <a:lvl5pPr marL="6424295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5pPr>
      <a:lvl6pPr marL="7852410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6pPr>
      <a:lvl7pPr marL="9280525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7pPr>
      <a:lvl8pPr marL="10708005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8pPr>
      <a:lvl9pPr marL="12135485" indent="-713740" algn="l" defTabSz="2854960" rtl="0" eaLnBrk="1" latinLnBrk="0" hangingPunct="1">
        <a:lnSpc>
          <a:spcPct val="90000"/>
        </a:lnSpc>
        <a:spcBef>
          <a:spcPct val="312000"/>
        </a:spcBef>
        <a:buFont typeface="Arial" panose="020B07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1pPr>
      <a:lvl2pPr marL="1428115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2pPr>
      <a:lvl3pPr marL="2854960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3pPr>
      <a:lvl4pPr marL="4283075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4pPr>
      <a:lvl5pPr marL="5711190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5pPr>
      <a:lvl6pPr marL="7138035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6pPr>
      <a:lvl7pPr marL="8566150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7pPr>
      <a:lvl8pPr marL="9993630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8pPr>
      <a:lvl9pPr marL="11421745" algn="l" defTabSz="2854960" rtl="0" eaLnBrk="1" latinLnBrk="0" hangingPunct="1">
        <a:defRPr sz="5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image" Target="../media/image5.png"/><Relationship Id="rId21" Type="http://schemas.openxmlformats.org/officeDocument/2006/relationships/oleObject" Target="../embeddings/oleObject1.bin"/><Relationship Id="rId34" Type="http://schemas.openxmlformats.org/officeDocument/2006/relationships/image" Target="../media/image1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4.svg"/><Relationship Id="rId33" Type="http://schemas.openxmlformats.org/officeDocument/2006/relationships/image" Target="../media/image12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1.xml"/><Relationship Id="rId29" Type="http://schemas.openxmlformats.org/officeDocument/2006/relationships/image" Target="../media/image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3.png"/><Relationship Id="rId32" Type="http://schemas.openxmlformats.org/officeDocument/2006/relationships/image" Target="../media/image11.png"/><Relationship Id="rId37" Type="http://schemas.openxmlformats.org/officeDocument/2006/relationships/image" Target="../media/image1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.png"/><Relationship Id="rId28" Type="http://schemas.openxmlformats.org/officeDocument/2006/relationships/image" Target="../media/image7.png"/><Relationship Id="rId36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31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.png"/><Relationship Id="rId27" Type="http://schemas.openxmlformats.org/officeDocument/2006/relationships/image" Target="../media/image6.png"/><Relationship Id="rId30" Type="http://schemas.openxmlformats.org/officeDocument/2006/relationships/image" Target="../media/image9.png"/><Relationship Id="rId35" Type="http://schemas.openxmlformats.org/officeDocument/2006/relationships/image" Target="../media/image14.png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804553" y="2187672"/>
          <a:ext cx="3386896" cy="278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6858000" imgH="5645150" progId="Package">
                  <p:embed/>
                </p:oleObj>
              </mc:Choice>
              <mc:Fallback>
                <p:oleObj r:id="rId21" imgW="6858000" imgH="564515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804553" y="2187672"/>
                        <a:ext cx="3386896" cy="2789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bgerundetes Rechteck 21"/>
          <p:cNvSpPr/>
          <p:nvPr/>
        </p:nvSpPr>
        <p:spPr>
          <a:xfrm>
            <a:off x="1082665" y="5387701"/>
            <a:ext cx="28092426" cy="10256954"/>
          </a:xfrm>
          <a:prstGeom prst="roundRect">
            <a:avLst>
              <a:gd name="adj" fmla="val 1512"/>
            </a:avLst>
          </a:prstGeom>
          <a:solidFill>
            <a:srgbClr val="0D37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305">
              <a:cs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14325" y="7874235"/>
            <a:ext cx="27550699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GB" sz="11395" b="1" dirty="0">
                <a:solidFill>
                  <a:srgbClr val="A5CDF7"/>
                </a:solidFill>
                <a:cs typeface="+mn-lt"/>
              </a:rPr>
              <a:t>LLM are </a:t>
            </a:r>
            <a:r>
              <a:rPr lang="en-US" altLang="en-GB" sz="11395" b="1" dirty="0">
                <a:solidFill>
                  <a:schemeClr val="bg1"/>
                </a:solidFill>
                <a:cs typeface="+mn-lt"/>
              </a:rPr>
              <a:t>biased </a:t>
            </a:r>
            <a:r>
              <a:rPr lang="en-US" altLang="en-GB" sz="11395" b="1" dirty="0">
                <a:solidFill>
                  <a:srgbClr val="A5CDF7"/>
                </a:solidFill>
                <a:cs typeface="+mn-lt"/>
              </a:rPr>
              <a:t>toward </a:t>
            </a:r>
            <a:r>
              <a:rPr lang="en-US" altLang="en-GB" sz="11395" b="1" dirty="0">
                <a:solidFill>
                  <a:schemeClr val="bg1"/>
                </a:solidFill>
                <a:cs typeface="+mn-lt"/>
              </a:rPr>
              <a:t>LLM-generated</a:t>
            </a:r>
            <a:r>
              <a:rPr lang="en-US" altLang="en-GB" sz="11395" b="1" dirty="0">
                <a:solidFill>
                  <a:srgbClr val="A5CDF7"/>
                </a:solidFill>
                <a:cs typeface="+mn-lt"/>
              </a:rPr>
              <a:t> contexts even when they are </a:t>
            </a:r>
            <a:r>
              <a:rPr lang="en-US" altLang="en-GB" sz="11395" b="1" dirty="0">
                <a:solidFill>
                  <a:schemeClr val="bg1"/>
                </a:solidFill>
                <a:cs typeface="+mn-lt"/>
              </a:rPr>
              <a:t>wrong</a:t>
            </a:r>
            <a:r>
              <a:rPr lang="en-US" altLang="en-GB" sz="11395" b="1" dirty="0">
                <a:solidFill>
                  <a:srgbClr val="A5CDF7"/>
                </a:solidFill>
                <a:cs typeface="+mn-lt"/>
              </a:rPr>
              <a:t>.</a:t>
            </a:r>
          </a:p>
        </p:txBody>
      </p:sp>
      <p:pic>
        <p:nvPicPr>
          <p:cNvPr id="12" name="Grafik 11" descr="/Users/tanhexiang/Desktop/qrcode_arxiv.org.pngqrcode_arxiv.org"/>
          <p:cNvPicPr>
            <a:picLocks noChangeAspect="1"/>
          </p:cNvPicPr>
          <p:nvPr/>
        </p:nvPicPr>
        <p:blipFill>
          <a:blip r:embed="rId23"/>
          <a:srcRect t="346" b="346"/>
          <a:stretch>
            <a:fillRect/>
          </a:stretch>
        </p:blipFill>
        <p:spPr>
          <a:xfrm>
            <a:off x="25956186" y="12595630"/>
            <a:ext cx="2859011" cy="2840765"/>
          </a:xfrm>
          <a:prstGeom prst="rect">
            <a:avLst/>
          </a:prstGeom>
        </p:spPr>
      </p:pic>
      <p:sp>
        <p:nvSpPr>
          <p:cNvPr id="10" name="TextBox 13"/>
          <p:cNvSpPr txBox="1"/>
          <p:nvPr>
            <p:custDataLst>
              <p:tags r:id="rId1"/>
            </p:custDataLst>
          </p:nvPr>
        </p:nvSpPr>
        <p:spPr>
          <a:xfrm>
            <a:off x="20431324" y="13313528"/>
            <a:ext cx="5332332" cy="1311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3965" b="1" dirty="0">
                <a:solidFill>
                  <a:schemeClr val="accent1">
                    <a:lumMod val="20000"/>
                    <a:lumOff val="80000"/>
                  </a:schemeClr>
                </a:solidFill>
                <a:cs typeface="+mn-lt"/>
                <a:sym typeface="+mn-ea"/>
              </a:rPr>
              <a:t>For the full paper</a:t>
            </a:r>
          </a:p>
          <a:p>
            <a:pPr algn="ctr"/>
            <a:r>
              <a:rPr lang="en-US" altLang="en-GB" sz="3965" b="1" dirty="0">
                <a:solidFill>
                  <a:schemeClr val="accent1">
                    <a:lumMod val="20000"/>
                    <a:lumOff val="80000"/>
                  </a:schemeClr>
                </a:solidFill>
                <a:cs typeface="+mn-lt"/>
                <a:sym typeface="+mn-ea"/>
              </a:rPr>
              <a:t>Just scan!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36294" y="1233200"/>
            <a:ext cx="21127991" cy="3049654"/>
          </a:xfrm>
          <a:prstGeom prst="rect">
            <a:avLst/>
          </a:prstGeom>
          <a:noFill/>
          <a:ln w="101600" cap="rnd" cmpd="sng">
            <a:noFill/>
            <a:prstDash val="dash"/>
            <a:miter lim="800000"/>
          </a:ln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</a:pPr>
            <a:r>
              <a:rPr lang="zh-CN" altLang="en-US" sz="5350" b="1">
                <a:cs typeface="+mn-lt"/>
              </a:rPr>
              <a:t>Blinded by Generated Contexts: </a:t>
            </a:r>
          </a:p>
          <a:p>
            <a:pPr algn="ctr"/>
            <a:r>
              <a:rPr lang="zh-CN" altLang="en-US" sz="5350" b="1">
                <a:cs typeface="+mn-lt"/>
              </a:rPr>
              <a:t>How Language Models</a:t>
            </a:r>
            <a:r>
              <a:rPr lang="en-US" altLang="zh-CN" sz="5350" b="1">
                <a:cs typeface="+mn-lt"/>
              </a:rPr>
              <a:t> </a:t>
            </a:r>
            <a:r>
              <a:rPr lang="zh-CN" altLang="en-US" sz="5350" b="1">
                <a:cs typeface="+mn-lt"/>
              </a:rPr>
              <a:t>Merge Generated and Retrieved Contexts When Knowledge Conflicts?</a:t>
            </a:r>
          </a:p>
          <a:p>
            <a:pPr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lang="en-GB" sz="4755" i="1" dirty="0">
                <a:solidFill>
                  <a:srgbClr val="0D375E"/>
                </a:solidFill>
                <a:cs typeface="+mn-lt"/>
                <a:sym typeface="+mn-ea"/>
              </a:rPr>
              <a:t>Hexiang Tan, Fei Sun</a:t>
            </a:r>
            <a:r>
              <a:rPr lang="en-GB" sz="4755" i="1" baseline="30000" dirty="0">
                <a:solidFill>
                  <a:srgbClr val="0D375E"/>
                </a:solidFill>
                <a:cs typeface="+mn-lt"/>
                <a:sym typeface="+mn-ea"/>
              </a:rPr>
              <a:t>†</a:t>
            </a:r>
            <a:r>
              <a:rPr lang="en-GB" sz="4755" i="1" dirty="0">
                <a:solidFill>
                  <a:srgbClr val="0D375E"/>
                </a:solidFill>
                <a:cs typeface="+mn-lt"/>
                <a:sym typeface="+mn-ea"/>
              </a:rPr>
              <a:t>, Wanli Yang, Yuanzhuo</a:t>
            </a:r>
            <a:r>
              <a:rPr lang="en-US" altLang="en-GB" sz="4755" i="1" dirty="0">
                <a:solidFill>
                  <a:srgbClr val="0D375E"/>
                </a:solidFill>
                <a:cs typeface="+mn-lt"/>
                <a:sym typeface="+mn-ea"/>
              </a:rPr>
              <a:t> </a:t>
            </a:r>
            <a:r>
              <a:rPr lang="en-GB" sz="4755" i="1" dirty="0">
                <a:solidFill>
                  <a:srgbClr val="0D375E"/>
                </a:solidFill>
                <a:cs typeface="+mn-lt"/>
                <a:sym typeface="+mn-ea"/>
              </a:rPr>
              <a:t>Wang, Qi Cao, Xueqi Cheng</a:t>
            </a:r>
          </a:p>
        </p:txBody>
      </p:sp>
      <p:sp>
        <p:nvSpPr>
          <p:cNvPr id="17" name="TextBox 7"/>
          <p:cNvSpPr txBox="1"/>
          <p:nvPr>
            <p:custDataLst>
              <p:tags r:id="rId2"/>
            </p:custDataLst>
          </p:nvPr>
        </p:nvSpPr>
        <p:spPr>
          <a:xfrm>
            <a:off x="11252162" y="26515062"/>
            <a:ext cx="9179162" cy="125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565" b="1" dirty="0">
                <a:cs typeface="+mn-lt"/>
              </a:rPr>
              <a:t>1. C</a:t>
            </a:r>
            <a:r>
              <a:rPr lang="zh-CN" altLang="en-US" sz="3565" b="1" dirty="0">
                <a:cs typeface="+mn-lt"/>
              </a:rPr>
              <a:t>onfirmation bias is </a:t>
            </a:r>
            <a:r>
              <a:rPr lang="zh-CN" altLang="en-US" sz="3565" b="1" dirty="0">
                <a:solidFill>
                  <a:srgbClr val="C00000"/>
                </a:solidFill>
                <a:cs typeface="+mn-lt"/>
              </a:rPr>
              <a:t>not</a:t>
            </a:r>
            <a:r>
              <a:rPr lang="zh-CN" altLang="en-US" sz="3565" b="1" dirty="0">
                <a:cs typeface="+mn-lt"/>
              </a:rPr>
              <a:t> </a:t>
            </a:r>
            <a:r>
              <a:rPr lang="en-US" altLang="zh-CN" sz="3565" b="1" dirty="0">
                <a:cs typeface="+mn-lt"/>
              </a:rPr>
              <a:t>a key factor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endParaRPr lang="en-US" altLang="zh-CN" sz="3170" dirty="0">
              <a:cs typeface="+mn-lt"/>
            </a:endParaRPr>
          </a:p>
        </p:txBody>
      </p:sp>
      <p:sp>
        <p:nvSpPr>
          <p:cNvPr id="32" name="TextBox 7"/>
          <p:cNvSpPr txBox="1"/>
          <p:nvPr>
            <p:custDataLst>
              <p:tags r:id="rId3"/>
            </p:custDataLst>
          </p:nvPr>
        </p:nvSpPr>
        <p:spPr>
          <a:xfrm>
            <a:off x="20357080" y="26556588"/>
            <a:ext cx="7559643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en-GB" sz="3565" b="1" dirty="0">
                <a:cs typeface="+mn-lt"/>
              </a:rPr>
              <a:t>3. Similarity is a significant factor</a:t>
            </a:r>
            <a:endParaRPr lang="en-US" altLang="zh-CN" sz="3170" dirty="0">
              <a:cs typeface="+mn-lt"/>
            </a:endParaRPr>
          </a:p>
        </p:txBody>
      </p:sp>
      <p:sp>
        <p:nvSpPr>
          <p:cNvPr id="36" name="TextBox 7"/>
          <p:cNvSpPr txBox="1"/>
          <p:nvPr>
            <p:custDataLst>
              <p:tags r:id="rId4"/>
            </p:custDataLst>
          </p:nvPr>
        </p:nvSpPr>
        <p:spPr>
          <a:xfrm>
            <a:off x="11425976" y="33550394"/>
            <a:ext cx="8342348" cy="125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565" b="1" dirty="0">
                <a:cs typeface="+mn-lt"/>
              </a:rPr>
              <a:t>2. Semantic completeness matters</a:t>
            </a:r>
          </a:p>
          <a:p>
            <a:pPr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704020202020204" pitchFamily="34" charset="0"/>
              <a:buNone/>
            </a:pPr>
            <a:endParaRPr lang="en-US" altLang="zh-CN" sz="3170" dirty="0">
              <a:cs typeface="+mn-lt"/>
            </a:endParaRPr>
          </a:p>
        </p:txBody>
      </p:sp>
      <p:sp>
        <p:nvSpPr>
          <p:cNvPr id="9" name="Abgerundetes Rechteck 21"/>
          <p:cNvSpPr/>
          <p:nvPr>
            <p:custDataLst>
              <p:tags r:id="rId5"/>
            </p:custDataLst>
          </p:nvPr>
        </p:nvSpPr>
        <p:spPr>
          <a:xfrm>
            <a:off x="1025409" y="16027198"/>
            <a:ext cx="28145277" cy="1077163"/>
          </a:xfrm>
          <a:prstGeom prst="roundRect">
            <a:avLst>
              <a:gd name="adj" fmla="val 10122"/>
            </a:avLst>
          </a:prstGeom>
          <a:solidFill>
            <a:srgbClr val="0D37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305">
              <a:cs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45051" y="16164360"/>
            <a:ext cx="15866756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4360" b="1" dirty="0">
                <a:solidFill>
                  <a:schemeClr val="bg1"/>
                </a:solidFill>
                <a:cs typeface="+mn-lt"/>
                <a:sym typeface="+mn-ea"/>
              </a:rPr>
              <a:t>Context-Conflicting Datasets (CC)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9917281" y="17295003"/>
            <a:ext cx="9038225" cy="266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Only one of generated and retrieved contexts contain correct answer. </a:t>
            </a:r>
          </a:p>
          <a:p>
            <a:pPr marL="571500" indent="-57150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AIG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: </a:t>
            </a: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A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nswer</a:t>
            </a: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 I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n </a:t>
            </a: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G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enerated Contexts</a:t>
            </a:r>
          </a:p>
          <a:p>
            <a:pPr marL="571500" indent="-571500" algn="just">
              <a:buFont typeface="Arial" panose="020B0704020202020204" pitchFamily="34" charset="0"/>
              <a:buChar char="•"/>
            </a:pP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AIR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: </a:t>
            </a: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A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nswer </a:t>
            </a: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I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n </a:t>
            </a: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R</a:t>
            </a:r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etrieved Contexts</a:t>
            </a:r>
            <a:endParaRPr lang="en-US" altLang="en-GB" sz="3965" b="1" dirty="0">
              <a:solidFill>
                <a:schemeClr val="tx1"/>
              </a:solidFill>
              <a:cs typeface="+mn-lt"/>
              <a:sym typeface="+mn-ea"/>
            </a:endParaRPr>
          </a:p>
        </p:txBody>
      </p:sp>
      <p:sp>
        <p:nvSpPr>
          <p:cNvPr id="19" name="Abgerundetes Rechteck 21"/>
          <p:cNvSpPr/>
          <p:nvPr>
            <p:custDataLst>
              <p:tags r:id="rId6"/>
            </p:custDataLst>
          </p:nvPr>
        </p:nvSpPr>
        <p:spPr>
          <a:xfrm>
            <a:off x="1082665" y="24838917"/>
            <a:ext cx="9418252" cy="1446493"/>
          </a:xfrm>
          <a:prstGeom prst="roundRect">
            <a:avLst>
              <a:gd name="adj" fmla="val 12918"/>
            </a:avLst>
          </a:prstGeom>
          <a:solidFill>
            <a:srgbClr val="0D37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305"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322384" y="25147217"/>
            <a:ext cx="9042629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4360" b="1" dirty="0">
                <a:solidFill>
                  <a:schemeClr val="bg1"/>
                </a:solidFill>
                <a:cs typeface="+mn-lt"/>
                <a:sym typeface="+mn-ea"/>
              </a:rPr>
              <a:t>LLMs Prefer Generated Contexts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322384" y="26571689"/>
            <a:ext cx="9038225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565" b="1" dirty="0">
                <a:cs typeface="+mn-lt"/>
                <a:sym typeface="+mn-ea"/>
              </a:rPr>
              <a:t>1. LLMs prefer generated contexts, even when they are incorrect! 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altLang="en-GB" sz="3170" dirty="0">
                <a:cs typeface="+mn-lt"/>
                <a:sym typeface="+mn-ea"/>
              </a:rPr>
              <a:t>EM performance drops significantly in AIR.</a:t>
            </a:r>
          </a:p>
          <a:p>
            <a:endParaRPr lang="en-US" altLang="en-GB" sz="3170" dirty="0">
              <a:cs typeface="+mn-lt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1211018" y="31604794"/>
            <a:ext cx="9178533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565" b="1" dirty="0">
                <a:cs typeface="+mn-lt"/>
                <a:sym typeface="+mn-ea"/>
              </a:rPr>
              <a:t>2. Consistent preferences across various generators and readers</a:t>
            </a: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1322384" y="38734754"/>
            <a:ext cx="9140782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3565" b="1" dirty="0">
                <a:cs typeface="+mn-lt"/>
                <a:sym typeface="+mn-ea"/>
              </a:rPr>
              <a:t>2. Consistent preferences across various retrievers</a:t>
            </a:r>
          </a:p>
        </p:txBody>
      </p:sp>
      <p:sp>
        <p:nvSpPr>
          <p:cNvPr id="30" name="Abgerundetes Rechteck 21"/>
          <p:cNvSpPr/>
          <p:nvPr>
            <p:custDataLst>
              <p:tags r:id="rId10"/>
            </p:custDataLst>
          </p:nvPr>
        </p:nvSpPr>
        <p:spPr>
          <a:xfrm>
            <a:off x="10972804" y="24833883"/>
            <a:ext cx="18133705" cy="1446493"/>
          </a:xfrm>
          <a:prstGeom prst="roundRect">
            <a:avLst>
              <a:gd name="adj" fmla="val 11004"/>
            </a:avLst>
          </a:prstGeom>
          <a:solidFill>
            <a:srgbClr val="0D37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305">
              <a:cs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11282363" y="25145329"/>
            <a:ext cx="17532835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4360" b="1" dirty="0">
                <a:solidFill>
                  <a:schemeClr val="bg1"/>
                </a:solidFill>
                <a:cs typeface="+mn-lt"/>
                <a:sym typeface="+mn-ea"/>
              </a:rPr>
              <a:t>Why LLMs Prefer Generated Contexts?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421257" y="40614261"/>
            <a:ext cx="8458117" cy="106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704020202020204" pitchFamily="34" charset="0"/>
              <a:buChar char="•"/>
            </a:pPr>
            <a:r>
              <a:rPr lang="en-US" altLang="zh-CN" sz="3170" dirty="0">
                <a:cs typeface="+mn-lt"/>
                <a:sym typeface="+mn-ea"/>
              </a:rPr>
              <a:t>LLMs exhibit an increased bias on slices with a larger average similarity gap</a:t>
            </a:r>
            <a:endParaRPr lang="zh-CN" altLang="en-US" sz="3170"/>
          </a:p>
        </p:txBody>
      </p:sp>
      <p:pic>
        <p:nvPicPr>
          <p:cNvPr id="8" name="图片 7" descr="ais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975476" y="374994"/>
            <a:ext cx="3362358" cy="3362358"/>
          </a:xfrm>
          <a:prstGeom prst="rect">
            <a:avLst/>
          </a:prstGeom>
        </p:spPr>
      </p:pic>
      <p:pic>
        <p:nvPicPr>
          <p:cNvPr id="5" name="图片 4" descr="acl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632407" y="328450"/>
            <a:ext cx="6330218" cy="1690617"/>
          </a:xfrm>
          <a:prstGeom prst="rect">
            <a:avLst/>
          </a:prstGeom>
        </p:spPr>
      </p:pic>
      <p:pic>
        <p:nvPicPr>
          <p:cNvPr id="14" name="图片 13" descr="截屏2024-07-20 12.10.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75476" y="32796485"/>
            <a:ext cx="7268331" cy="5588410"/>
          </a:xfrm>
          <a:prstGeom prst="rect">
            <a:avLst/>
          </a:prstGeom>
        </p:spPr>
      </p:pic>
      <p:pic>
        <p:nvPicPr>
          <p:cNvPr id="16" name="图片 15" descr="截屏2024-07-20 12.13.5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434935" y="28055570"/>
            <a:ext cx="8571865" cy="6878955"/>
          </a:xfrm>
          <a:prstGeom prst="rect">
            <a:avLst/>
          </a:prstGeom>
        </p:spPr>
      </p:pic>
      <p:pic>
        <p:nvPicPr>
          <p:cNvPr id="21" name="图片 20" descr="/Users/tanhexiang/Desktop/截屏2024-07-23 15.51.56.png截屏2024-07-23 15.51.56"/>
          <p:cNvPicPr>
            <a:picLocks noChangeAspect="1"/>
          </p:cNvPicPr>
          <p:nvPr/>
        </p:nvPicPr>
        <p:blipFill>
          <a:blip r:embed="rId29"/>
          <a:srcRect l="2410" r="2410"/>
          <a:stretch>
            <a:fillRect/>
          </a:stretch>
        </p:blipFill>
        <p:spPr>
          <a:xfrm>
            <a:off x="1502959" y="28331317"/>
            <a:ext cx="8458747" cy="2774700"/>
          </a:xfrm>
          <a:prstGeom prst="rect">
            <a:avLst/>
          </a:prstGeom>
        </p:spPr>
      </p:pic>
      <p:pic>
        <p:nvPicPr>
          <p:cNvPr id="38" name="图片 37" descr="/Users/tanhexiang/Desktop/截屏2024-07-23 15.49.33.png截屏2024-07-23 15.49.33"/>
          <p:cNvPicPr>
            <a:picLocks noChangeAspect="1"/>
          </p:cNvPicPr>
          <p:nvPr/>
        </p:nvPicPr>
        <p:blipFill>
          <a:blip r:embed="rId30"/>
          <a:srcRect l="1762" r="1762"/>
          <a:stretch>
            <a:fillRect/>
          </a:stretch>
        </p:blipFill>
        <p:spPr>
          <a:xfrm>
            <a:off x="11390243" y="27299406"/>
            <a:ext cx="8378840" cy="3782024"/>
          </a:xfrm>
          <a:prstGeom prst="rect">
            <a:avLst/>
          </a:prstGeom>
        </p:spPr>
      </p:pic>
      <p:pic>
        <p:nvPicPr>
          <p:cNvPr id="39" name="图片 38" descr="/Users/tanhexiang/Desktop/截屏2024-07-23 16.52.46.png截屏2024-07-23 16.52.46"/>
          <p:cNvPicPr>
            <a:picLocks noChangeAspect="1"/>
          </p:cNvPicPr>
          <p:nvPr/>
        </p:nvPicPr>
        <p:blipFill>
          <a:blip r:embed="rId31"/>
          <a:srcRect l="33" r="33"/>
          <a:stretch>
            <a:fillRect/>
          </a:stretch>
        </p:blipFill>
        <p:spPr>
          <a:xfrm>
            <a:off x="11451590" y="38731190"/>
            <a:ext cx="8315325" cy="1931670"/>
          </a:xfrm>
          <a:prstGeom prst="rect">
            <a:avLst/>
          </a:prstGeom>
        </p:spPr>
      </p:pic>
      <p:pic>
        <p:nvPicPr>
          <p:cNvPr id="40" name="图片 39" descr="截屏2024-07-20 12.01.3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426190" y="34470340"/>
            <a:ext cx="8341995" cy="2357755"/>
          </a:xfrm>
          <a:prstGeom prst="rect">
            <a:avLst/>
          </a:prstGeom>
        </p:spPr>
      </p:pic>
      <p:pic>
        <p:nvPicPr>
          <p:cNvPr id="41" name="图片 40" descr="/Users/tanhexiang/Desktop/截屏2024-07-23 15.52.48.png截屏2024-07-23 15.52.48"/>
          <p:cNvPicPr>
            <a:picLocks noChangeAspect="1"/>
          </p:cNvPicPr>
          <p:nvPr/>
        </p:nvPicPr>
        <p:blipFill>
          <a:blip r:embed="rId33"/>
          <a:srcRect l="475" r="475"/>
          <a:stretch>
            <a:fillRect/>
          </a:stretch>
        </p:blipFill>
        <p:spPr>
          <a:xfrm>
            <a:off x="2134660" y="39872947"/>
            <a:ext cx="7109147" cy="1931594"/>
          </a:xfrm>
          <a:prstGeom prst="rect">
            <a:avLst/>
          </a:prstGeom>
        </p:spPr>
      </p:pic>
      <p:pic>
        <p:nvPicPr>
          <p:cNvPr id="45" name="图片 44" descr="/Users/tanhexiang/Library/Containers/com.kingsoft.wpsoffice.mac/Data/tmp/picturecompress_20240720130831/output_1.pngoutput_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65516" y="17676834"/>
            <a:ext cx="18592380" cy="6944301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12"/>
            </p:custDataLst>
          </p:nvPr>
        </p:nvSpPr>
        <p:spPr>
          <a:xfrm>
            <a:off x="19971390" y="20529239"/>
            <a:ext cx="9038225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GB" sz="3965" dirty="0">
                <a:solidFill>
                  <a:schemeClr val="tx1"/>
                </a:solidFill>
                <a:cs typeface="+mn-lt"/>
                <a:sym typeface="+mn-ea"/>
              </a:rPr>
              <a:t>            : t</a:t>
            </a:r>
            <a:r>
              <a:rPr lang="en-US" altLang="en-GB" sz="3965" dirty="0">
                <a:cs typeface="+mn-lt"/>
                <a:sym typeface="+mn-ea"/>
              </a:rPr>
              <a:t>he extent of LLMs' tendency to rely on generated contexts over retrieved contexts.</a:t>
            </a:r>
            <a:endParaRPr lang="en-US" altLang="en-GB" sz="3965" dirty="0">
              <a:solidFill>
                <a:schemeClr val="tx1"/>
              </a:solidFill>
              <a:cs typeface="+mn-lt"/>
              <a:sym typeface="+mn-ea"/>
            </a:endParaRPr>
          </a:p>
          <a:p>
            <a:pPr marL="571500" indent="-571500" algn="just">
              <a:buFont typeface="Arial" panose="020B0704020202020204" pitchFamily="34" charset="0"/>
              <a:buChar char="•"/>
            </a:pPr>
            <a:endParaRPr lang="en-US" altLang="en-GB" sz="3965" b="1" dirty="0">
              <a:solidFill>
                <a:schemeClr val="tx1"/>
              </a:solidFill>
              <a:cs typeface="+mn-lt"/>
              <a:sym typeface="+mn-ea"/>
            </a:endParaRPr>
          </a:p>
          <a:p>
            <a:pPr marL="571500" indent="-571500" algn="just">
              <a:buFont typeface="Arial" panose="020B0704020202020204" pitchFamily="34" charset="0"/>
              <a:buChar char="•"/>
            </a:pPr>
            <a:endParaRPr lang="en-US" altLang="en-GB" sz="3965" b="1" dirty="0">
              <a:solidFill>
                <a:schemeClr val="tx1"/>
              </a:solidFill>
              <a:cs typeface="+mn-lt"/>
              <a:sym typeface="+mn-ea"/>
            </a:endParaRPr>
          </a:p>
          <a:p>
            <a:pPr marL="571500" indent="-571500" algn="just">
              <a:buFont typeface="Arial" panose="020B0704020202020204" pitchFamily="34" charset="0"/>
              <a:buChar char="•"/>
            </a:pPr>
            <a:r>
              <a:rPr lang="en-US" altLang="en-GB" sz="3965" b="1" dirty="0">
                <a:solidFill>
                  <a:schemeClr val="tx1"/>
                </a:solidFill>
                <a:cs typeface="+mn-lt"/>
                <a:sym typeface="+mn-ea"/>
              </a:rPr>
              <a:t>Ideal              : -1 </a:t>
            </a:r>
            <a:r>
              <a:rPr lang="en-US" altLang="en-GB" sz="3965" b="1" dirty="0">
                <a:solidFill>
                  <a:schemeClr val="tx1"/>
                </a:solidFill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→ AIR, 1 → AIG</a:t>
            </a:r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19971390" y="20655076"/>
            <a:ext cx="1688729" cy="493909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21918714" y="23714168"/>
            <a:ext cx="1688729" cy="493909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21901097" y="22436925"/>
            <a:ext cx="4202948" cy="111994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434935" y="35112325"/>
            <a:ext cx="8574405" cy="106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704020202020204" pitchFamily="34" charset="0"/>
              <a:buChar char="•"/>
            </a:pPr>
            <a:r>
              <a:rPr lang="zh-CN" altLang="en-US" sz="3170">
                <a:cs typeface="+mn-lt"/>
              </a:rPr>
              <a:t>Generated contexts exhibit a higher similarity to the questions.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1389995" y="31151830"/>
            <a:ext cx="845820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zh-CN" sz="3170">
                <a:cs typeface="+mn-lt"/>
              </a:rPr>
              <a:t>R</a:t>
            </a:r>
            <a:r>
              <a:rPr lang="zh-CN" altLang="en-US" sz="3170">
                <a:cs typeface="+mn-lt"/>
              </a:rPr>
              <a:t>arely </a:t>
            </a:r>
            <a:r>
              <a:rPr lang="en-US" altLang="zh-CN" sz="3170">
                <a:cs typeface="+mn-lt"/>
              </a:rPr>
              <a:t>c</a:t>
            </a:r>
            <a:r>
              <a:rPr lang="zh-CN" altLang="en-US" sz="3170">
                <a:cs typeface="+mn-lt"/>
              </a:rPr>
              <a:t>hoosing </a:t>
            </a:r>
            <a:r>
              <a:rPr lang="en-US" altLang="zh-CN" sz="3170">
                <a:cs typeface="+mn-lt"/>
              </a:rPr>
              <a:t>p</a:t>
            </a:r>
            <a:r>
              <a:rPr lang="zh-CN" altLang="en-US" sz="3170">
                <a:cs typeface="+mn-lt"/>
              </a:rPr>
              <a:t>arametric</a:t>
            </a:r>
            <a:r>
              <a:rPr lang="en-US" altLang="zh-CN" sz="3170">
                <a:cs typeface="+mn-lt"/>
              </a:rPr>
              <a:t> k</a:t>
            </a:r>
            <a:r>
              <a:rPr lang="zh-CN" altLang="en-US" sz="3170">
                <a:cs typeface="+mn-lt"/>
              </a:rPr>
              <a:t>nowledge</a:t>
            </a:r>
            <a:r>
              <a:rPr lang="en-US" altLang="zh-CN" sz="3170">
                <a:cs typeface="+mn-lt"/>
              </a:rPr>
              <a:t>.</a:t>
            </a:r>
            <a:endParaRPr lang="zh-CN" altLang="en-US" sz="3170">
              <a:cs typeface="+mn-lt"/>
            </a:endParaRPr>
          </a:p>
          <a:p>
            <a:pPr marL="457200" indent="-45720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zh-CN" sz="3170">
                <a:cs typeface="+mn-lt"/>
              </a:rPr>
              <a:t>Still prefer</a:t>
            </a:r>
            <a:r>
              <a:rPr lang="zh-CN" altLang="en-US" sz="3170">
                <a:cs typeface="+mn-lt"/>
              </a:rPr>
              <a:t> generated contexts even when they are inconsistent with LLMs' parametric knowledge.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1516360" y="40765095"/>
            <a:ext cx="8251190" cy="106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en-US" altLang="zh-CN" sz="3170">
                <a:cs typeface="+mn-lt"/>
              </a:rPr>
              <a:t>S</a:t>
            </a:r>
            <a:r>
              <a:rPr lang="zh-CN" altLang="en-US" sz="3170">
                <a:cs typeface="+mn-lt"/>
              </a:rPr>
              <a:t>ignificant increase in bias with enhanced semantic completeness.</a:t>
            </a:r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20389798" y="27299025"/>
            <a:ext cx="8743767" cy="57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170" b="1"/>
              <a:t>(1) Similarity Distribution</a:t>
            </a:r>
          </a:p>
        </p:txBody>
      </p:sp>
      <p:sp>
        <p:nvSpPr>
          <p:cNvPr id="37" name="文本框 36"/>
          <p:cNvSpPr txBox="1"/>
          <p:nvPr>
            <p:custDataLst>
              <p:tags r:id="rId17"/>
            </p:custDataLst>
          </p:nvPr>
        </p:nvSpPr>
        <p:spPr>
          <a:xfrm>
            <a:off x="20421257" y="36629175"/>
            <a:ext cx="8743767" cy="578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170" b="1"/>
              <a:t>(2) Effect of Similarity</a:t>
            </a:r>
          </a:p>
        </p:txBody>
      </p:sp>
      <p:pic>
        <p:nvPicPr>
          <p:cNvPr id="43" name="图片 42" descr="/Users/tanhexiang/Desktop/截屏2024-07-23 16.30.07.png截屏2024-07-23 16.30.0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7"/>
          <a:srcRect t="1734" b="1734"/>
          <a:stretch>
            <a:fillRect/>
          </a:stretch>
        </p:blipFill>
        <p:spPr>
          <a:xfrm>
            <a:off x="20405090" y="37294820"/>
            <a:ext cx="8804275" cy="3234055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11516360" y="36800155"/>
            <a:ext cx="825119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zh-CN" altLang="en-US" sz="3200"/>
              <a:t>Simulate incompleteness in generated contexts</a:t>
            </a:r>
            <a:r>
              <a:rPr lang="en-US" altLang="zh-CN" sz="3200"/>
              <a:t>.</a:t>
            </a:r>
            <a:endParaRPr lang="zh-CN" altLang="en-US" sz="3200"/>
          </a:p>
          <a:p>
            <a:pPr marL="457200" indent="-457200" algn="just">
              <a:buFont typeface="Arial" panose="020B0704020202020204" pitchFamily="34" charset="0"/>
              <a:buChar char="•"/>
            </a:pPr>
            <a:r>
              <a:rPr lang="zh-CN" altLang="en-US" sz="3200"/>
              <a:t>Controlled length and similarity</a:t>
            </a:r>
            <a:r>
              <a:rPr lang="en-US" altLang="zh-CN" sz="3200"/>
              <a:t>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3146</TotalTime>
  <Words>255</Words>
  <Application>Microsoft Macintosh PowerPoint</Application>
  <PresentationFormat>自定义</PresentationFormat>
  <Paragraphs>32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Package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C</dc:creator>
  <cp:lastModifiedBy>鹤翔 谭</cp:lastModifiedBy>
  <cp:revision>280</cp:revision>
  <dcterms:created xsi:type="dcterms:W3CDTF">2024-07-23T08:57:42Z</dcterms:created>
  <dcterms:modified xsi:type="dcterms:W3CDTF">2025-10-09T12:55:29Z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7B47A6BA30FA78FCAC556866D557F6AB_43</vt:lpwstr>
  </property>
  <property fmtid="{D5CDD505-2E9C-101B-9397-08002B2CF9AE}" pid="3" name="KSOProductBuildVer">
    <vt:lpwstr>2052-6.7.1.8828</vt:lpwstr>
  </property>
</Properties>
</file>