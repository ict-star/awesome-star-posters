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8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27" userDrawn="1">
          <p15:clr>
            <a:srgbClr val="A4A3A4"/>
          </p15:clr>
        </p15:guide>
        <p15:guide id="2" pos="95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1B23"/>
    <a:srgbClr val="EE292E"/>
    <a:srgbClr val="16345C"/>
    <a:srgbClr val="98B8DB"/>
    <a:srgbClr val="EB7A6D"/>
    <a:srgbClr val="8D3D1A"/>
    <a:srgbClr val="C43E1B"/>
    <a:srgbClr val="EB1C24"/>
    <a:srgbClr val="FFB300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6" autoAdjust="0"/>
    <p:restoredTop sz="94524" autoAdjust="0"/>
  </p:normalViewPr>
  <p:slideViewPr>
    <p:cSldViewPr snapToGrid="0" snapToObjects="1" showGuides="1">
      <p:cViewPr>
        <p:scale>
          <a:sx n="16" d="100"/>
          <a:sy n="16" d="100"/>
        </p:scale>
        <p:origin x="3536" y="568"/>
      </p:cViewPr>
      <p:guideLst>
        <p:guide orient="horz" pos="13227"/>
        <p:guide pos="95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9F487-D909-430B-900A-B5C19E740019}" type="datetimeFigureOut">
              <a:rPr lang="zh-CN" altLang="en-US" smtClean="0"/>
              <a:t>2024/10/23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A410E3-C217-4C03-AB6A-12547247C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47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1pPr>
    <a:lvl2pPr marL="1993026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2pPr>
    <a:lvl3pPr marL="3986052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3pPr>
    <a:lvl4pPr marL="5979079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4pPr>
    <a:lvl5pPr marL="7972105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5pPr>
    <a:lvl6pPr marL="9965131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6pPr>
    <a:lvl7pPr marL="11958157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7pPr>
    <a:lvl8pPr marL="13951184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8pPr>
    <a:lvl9pPr marL="15944210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410E3-C217-4C03-AB6A-12547247CBE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059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23/10/2024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99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23/10/2024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67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23/10/2024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36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23/10/2024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034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23/10/2024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47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23/10/2024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73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23/10/2024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440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23/10/2024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104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23/10/2024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971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23/10/2024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80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23/10/2024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7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3399-2F7C-0249-BC81-4008E155B995}" type="datetimeFigureOut">
              <a:rPr lang="en-GB" smtClean="0"/>
              <a:t>23/10/2024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91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emf"/><Relationship Id="rId3" Type="http://schemas.openxmlformats.org/officeDocument/2006/relationships/image" Target="../media/image1.png"/><Relationship Id="rId21" Type="http://schemas.openxmlformats.org/officeDocument/2006/relationships/image" Target="../media/image19.emf"/><Relationship Id="rId34" Type="http://schemas.openxmlformats.org/officeDocument/2006/relationships/image" Target="../media/image32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jpg"/><Relationship Id="rId25" Type="http://schemas.openxmlformats.org/officeDocument/2006/relationships/image" Target="../media/image23.emf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emf"/><Relationship Id="rId29" Type="http://schemas.openxmlformats.org/officeDocument/2006/relationships/image" Target="../media/image2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emf"/><Relationship Id="rId32" Type="http://schemas.openxmlformats.org/officeDocument/2006/relationships/image" Target="../media/image30.emf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23" Type="http://schemas.openxmlformats.org/officeDocument/2006/relationships/image" Target="../media/image21.emf"/><Relationship Id="rId28" Type="http://schemas.openxmlformats.org/officeDocument/2006/relationships/image" Target="../media/image26.emf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emf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emf"/><Relationship Id="rId27" Type="http://schemas.openxmlformats.org/officeDocument/2006/relationships/image" Target="../media/image25.emf"/><Relationship Id="rId30" Type="http://schemas.openxmlformats.org/officeDocument/2006/relationships/image" Target="../media/image28.emf"/><Relationship Id="rId35" Type="http://schemas.openxmlformats.org/officeDocument/2006/relationships/image" Target="../media/image33.png"/><Relationship Id="rId8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图片 1069">
            <a:extLst>
              <a:ext uri="{FF2B5EF4-FFF2-40B4-BE49-F238E27FC236}">
                <a16:creationId xmlns:a16="http://schemas.microsoft.com/office/drawing/2014/main" id="{CC8E387C-5478-3E51-EE82-F204AC6D5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6568" y="32380651"/>
            <a:ext cx="14366508" cy="8238770"/>
          </a:xfrm>
          <a:prstGeom prst="rect">
            <a:avLst/>
          </a:prstGeom>
        </p:spPr>
      </p:pic>
      <p:pic>
        <p:nvPicPr>
          <p:cNvPr id="1068" name="图片 1067">
            <a:extLst>
              <a:ext uri="{FF2B5EF4-FFF2-40B4-BE49-F238E27FC236}">
                <a16:creationId xmlns:a16="http://schemas.microsoft.com/office/drawing/2014/main" id="{B9BFF0DB-01BE-90FB-F6C2-D0F9A9F78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6569" y="12405905"/>
            <a:ext cx="14366508" cy="8684471"/>
          </a:xfrm>
          <a:prstGeom prst="rect">
            <a:avLst/>
          </a:prstGeom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5216C9D1-A82A-9F54-322E-C0234DE28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34" y="30597271"/>
            <a:ext cx="14317359" cy="10022150"/>
          </a:xfrm>
          <a:prstGeom prst="rect">
            <a:avLst/>
          </a:prstGeom>
        </p:spPr>
      </p:pic>
      <p:sp>
        <p:nvSpPr>
          <p:cNvPr id="1059" name="矩形: 圆角 31">
            <a:extLst>
              <a:ext uri="{FF2B5EF4-FFF2-40B4-BE49-F238E27FC236}">
                <a16:creationId xmlns:a16="http://schemas.microsoft.com/office/drawing/2014/main" id="{50118905-4E75-48DA-EE99-67C5E63B508E}"/>
              </a:ext>
            </a:extLst>
          </p:cNvPr>
          <p:cNvSpPr/>
          <p:nvPr/>
        </p:nvSpPr>
        <p:spPr>
          <a:xfrm>
            <a:off x="394834" y="22026702"/>
            <a:ext cx="14320997" cy="7581918"/>
          </a:xfrm>
          <a:prstGeom prst="roundRect">
            <a:avLst>
              <a:gd name="adj" fmla="val 2035"/>
            </a:avLst>
          </a:prstGeom>
          <a:solidFill>
            <a:schemeClr val="bg1"/>
          </a:solidFill>
          <a:ln w="38100">
            <a:solidFill>
              <a:srgbClr val="173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31">
            <a:extLst>
              <a:ext uri="{FF2B5EF4-FFF2-40B4-BE49-F238E27FC236}">
                <a16:creationId xmlns:a16="http://schemas.microsoft.com/office/drawing/2014/main" id="{9C9999E5-12D5-F423-ACD5-4678CC427BFD}"/>
              </a:ext>
            </a:extLst>
          </p:cNvPr>
          <p:cNvSpPr/>
          <p:nvPr/>
        </p:nvSpPr>
        <p:spPr>
          <a:xfrm>
            <a:off x="398473" y="12405905"/>
            <a:ext cx="14317358" cy="8677382"/>
          </a:xfrm>
          <a:prstGeom prst="roundRect">
            <a:avLst>
              <a:gd name="adj" fmla="val 2035"/>
            </a:avLst>
          </a:prstGeom>
          <a:solidFill>
            <a:schemeClr val="bg1"/>
          </a:solidFill>
          <a:ln w="38100">
            <a:solidFill>
              <a:srgbClr val="173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7" name="Abgerundetes Rechteck 21">
            <a:extLst>
              <a:ext uri="{FF2B5EF4-FFF2-40B4-BE49-F238E27FC236}">
                <a16:creationId xmlns:a16="http://schemas.microsoft.com/office/drawing/2014/main" id="{4CDF04C7-A9C1-5C45-F50C-29576066DC61}"/>
              </a:ext>
            </a:extLst>
          </p:cNvPr>
          <p:cNvSpPr/>
          <p:nvPr/>
        </p:nvSpPr>
        <p:spPr>
          <a:xfrm>
            <a:off x="0" y="41029571"/>
            <a:ext cx="30275213" cy="1781318"/>
          </a:xfrm>
          <a:prstGeom prst="roundRect">
            <a:avLst>
              <a:gd name="adj" fmla="val 0"/>
            </a:avLst>
          </a:prstGeom>
          <a:solidFill>
            <a:srgbClr val="17365E"/>
          </a:solidFill>
          <a:ln>
            <a:solidFill>
              <a:srgbClr val="17365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4" dirty="0">
              <a:solidFill>
                <a:srgbClr val="A5CDF7"/>
              </a:solidFill>
            </a:endParaRPr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4A3C98F6-3883-5444-8D1E-DEBEF5E974D6}"/>
              </a:ext>
            </a:extLst>
          </p:cNvPr>
          <p:cNvSpPr/>
          <p:nvPr/>
        </p:nvSpPr>
        <p:spPr>
          <a:xfrm>
            <a:off x="-1" y="0"/>
            <a:ext cx="30275213" cy="7132126"/>
          </a:xfrm>
          <a:prstGeom prst="roundRect">
            <a:avLst>
              <a:gd name="adj" fmla="val 0"/>
            </a:avLst>
          </a:prstGeom>
          <a:solidFill>
            <a:srgbClr val="17365E"/>
          </a:solidFill>
          <a:ln>
            <a:solidFill>
              <a:srgbClr val="17365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4" dirty="0">
              <a:solidFill>
                <a:srgbClr val="A5CDF7"/>
              </a:solidFill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1014B361-00AF-5F7D-7D26-2C9542749D74}"/>
              </a:ext>
            </a:extLst>
          </p:cNvPr>
          <p:cNvSpPr txBox="1"/>
          <p:nvPr/>
        </p:nvSpPr>
        <p:spPr>
          <a:xfrm>
            <a:off x="1672297" y="1435146"/>
            <a:ext cx="22374776" cy="417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500" b="1" dirty="0">
                <a:solidFill>
                  <a:srgbClr val="98B8DB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Causes of ROME-Induced LLM Collapse:</a:t>
            </a:r>
          </a:p>
          <a:p>
            <a:pPr>
              <a:lnSpc>
                <a:spcPct val="120000"/>
              </a:lnSpc>
              <a:buSzPct val="200000"/>
            </a:pPr>
            <a:r>
              <a:rPr lang="zh-CN" altLang="en-US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-</a:t>
            </a:r>
            <a:r>
              <a:rPr lang="zh-CN" altLang="en-US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Inconsistent</a:t>
            </a:r>
            <a:r>
              <a:rPr lang="zh-CN" altLang="en-US" sz="7000" b="1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keys</a:t>
            </a:r>
            <a:r>
              <a:rPr lang="zh-CN" altLang="en-US" sz="7000" b="1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in</a:t>
            </a:r>
            <a:r>
              <a:rPr lang="zh-CN" altLang="en-US" sz="7000" b="1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ROME</a:t>
            </a:r>
            <a:r>
              <a:rPr lang="zh-CN" altLang="en-US" sz="7000" b="1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cause</a:t>
            </a:r>
            <a:r>
              <a:rPr lang="zh-CN" altLang="en-US" sz="7000" b="1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LLMs</a:t>
            </a:r>
            <a:r>
              <a:rPr lang="zh-CN" altLang="en-US" sz="7000" b="1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collapse;</a:t>
            </a:r>
            <a:endParaRPr lang="en-US" sz="7000" b="1" dirty="0">
              <a:solidFill>
                <a:schemeClr val="bg1"/>
              </a:solidFill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-</a:t>
            </a:r>
            <a:r>
              <a:rPr lang="zh-CN" altLang="en-US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First token in </a:t>
            </a:r>
            <a:r>
              <a:rPr lang="en-US" altLang="zh-CN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LLMs</a:t>
            </a:r>
            <a:r>
              <a:rPr lang="zh-CN" altLang="en-US" sz="7000" b="1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distributes</a:t>
            </a:r>
            <a:r>
              <a:rPr lang="zh-CN" altLang="en-US" sz="7000" b="1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70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anomalously. </a:t>
            </a:r>
            <a:endParaRPr lang="en-GB" sz="7000" b="1" dirty="0">
              <a:solidFill>
                <a:schemeClr val="bg1"/>
              </a:solidFill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A570730-BDD1-FA8F-89E6-6E500ACA5943}"/>
              </a:ext>
            </a:extLst>
          </p:cNvPr>
          <p:cNvSpPr txBox="1"/>
          <p:nvPr/>
        </p:nvSpPr>
        <p:spPr>
          <a:xfrm>
            <a:off x="15897195" y="38248647"/>
            <a:ext cx="13320608" cy="2163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14000"/>
              </a:lnSpc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Uniformly</a:t>
            </a:r>
            <a:r>
              <a:rPr lang="zh-CN" alt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adopt</a:t>
            </a:r>
            <a:r>
              <a:rPr lang="zh-CN" alt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prefixed</a:t>
            </a:r>
            <a:r>
              <a:rPr lang="zh-CN" alt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keys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during</a:t>
            </a:r>
            <a:r>
              <a:rPr lang="zh-CN" alt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editing.</a:t>
            </a:r>
          </a:p>
          <a:p>
            <a:pPr marL="571500" indent="-571500">
              <a:lnSpc>
                <a:spcPct val="114000"/>
              </a:lnSpc>
              <a:buSzPct val="60000"/>
              <a:buFont typeface="Wingdings" panose="05000000000000000000" pitchFamily="2" charset="2"/>
              <a:buChar char="l"/>
            </a:pPr>
            <a:r>
              <a:rPr lang="fr-FR" altLang="zh-CN" sz="4000" b="1">
                <a:latin typeface="Helvetica" panose="020B0604020202020204" pitchFamily="34" charset="0"/>
                <a:cs typeface="Helvetica" panose="020B0604020202020204" pitchFamily="34" charset="0"/>
              </a:rPr>
              <a:t>Add prefix during testing</a:t>
            </a:r>
            <a:r>
              <a:rPr lang="fr-FR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 to ensure the consistency between training and testing.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7107C7E-220E-623F-410D-B548124D706D}"/>
              </a:ext>
            </a:extLst>
          </p:cNvPr>
          <p:cNvSpPr/>
          <p:nvPr/>
        </p:nvSpPr>
        <p:spPr>
          <a:xfrm>
            <a:off x="4094865" y="11759435"/>
            <a:ext cx="6611235" cy="1292943"/>
          </a:xfrm>
          <a:prstGeom prst="roundRect">
            <a:avLst/>
          </a:prstGeom>
          <a:solidFill>
            <a:srgbClr val="FFFFFF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365E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A088967-0A45-8BDF-9C0F-1CAAC7BE5057}"/>
              </a:ext>
            </a:extLst>
          </p:cNvPr>
          <p:cNvSpPr txBox="1"/>
          <p:nvPr/>
        </p:nvSpPr>
        <p:spPr>
          <a:xfrm>
            <a:off x="14043506" y="41636085"/>
            <a:ext cx="355540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yangyywl@gmail.com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F406CF7-CE32-E785-017A-A700E855454F}"/>
              </a:ext>
            </a:extLst>
          </p:cNvPr>
          <p:cNvSpPr txBox="1"/>
          <p:nvPr/>
        </p:nvSpPr>
        <p:spPr>
          <a:xfrm>
            <a:off x="24403639" y="41636084"/>
            <a:ext cx="3098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5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@10k_miles_yang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287347-CEF1-E4B8-3027-72FBAB361716}"/>
              </a:ext>
            </a:extLst>
          </p:cNvPr>
          <p:cNvSpPr txBox="1"/>
          <p:nvPr/>
        </p:nvSpPr>
        <p:spPr>
          <a:xfrm>
            <a:off x="4518165" y="41636085"/>
            <a:ext cx="217140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WanliYoung</a:t>
            </a:r>
            <a:endParaRPr lang="zh-CN" altLang="en-US" sz="25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30" name="图形 14">
            <a:extLst>
              <a:ext uri="{FF2B5EF4-FFF2-40B4-BE49-F238E27FC236}">
                <a16:creationId xmlns:a16="http://schemas.microsoft.com/office/drawing/2014/main" id="{2F7338E4-A7E9-498D-0331-B73F27691B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011" y="7819778"/>
            <a:ext cx="1620000" cy="1620000"/>
          </a:xfrm>
          <a:prstGeom prst="rect">
            <a:avLst/>
          </a:prstGeom>
        </p:spPr>
      </p:pic>
      <p:pic>
        <p:nvPicPr>
          <p:cNvPr id="1031" name="图片 10">
            <a:extLst>
              <a:ext uri="{FF2B5EF4-FFF2-40B4-BE49-F238E27FC236}">
                <a16:creationId xmlns:a16="http://schemas.microsoft.com/office/drawing/2014/main" id="{0E24D608-B563-BBAB-4EC1-97FF5C6856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677" y="9403003"/>
            <a:ext cx="2049544" cy="2014251"/>
          </a:xfrm>
          <a:prstGeom prst="rect">
            <a:avLst/>
          </a:prstGeom>
        </p:spPr>
      </p:pic>
      <p:sp>
        <p:nvSpPr>
          <p:cNvPr id="1032" name="文本框 8">
            <a:extLst>
              <a:ext uri="{FF2B5EF4-FFF2-40B4-BE49-F238E27FC236}">
                <a16:creationId xmlns:a16="http://schemas.microsoft.com/office/drawing/2014/main" id="{A80913A7-8C66-FBF2-65EA-9DD7B82816D6}"/>
              </a:ext>
            </a:extLst>
          </p:cNvPr>
          <p:cNvSpPr txBox="1"/>
          <p:nvPr/>
        </p:nvSpPr>
        <p:spPr>
          <a:xfrm>
            <a:off x="3131011" y="7819778"/>
            <a:ext cx="22302734" cy="3262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6200" b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The Fall of </a:t>
            </a:r>
            <a:r>
              <a:rPr lang="en-US" altLang="zh-CN" sz="6200" b="1" i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ROME</a:t>
            </a:r>
            <a:r>
              <a:rPr lang="en-US" altLang="zh-CN" sz="6200" b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: </a:t>
            </a:r>
          </a:p>
          <a:p>
            <a:pPr algn="ctr">
              <a:lnSpc>
                <a:spcPct val="110000"/>
              </a:lnSpc>
            </a:pPr>
            <a:r>
              <a:rPr lang="en-US" altLang="zh-CN" sz="6200" b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Understanding</a:t>
            </a:r>
            <a:r>
              <a:rPr lang="zh-CN" altLang="en-US" sz="6200" b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6200" b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the </a:t>
            </a:r>
            <a:r>
              <a:rPr lang="en-US" altLang="zh-CN" sz="6200" b="1">
                <a:solidFill>
                  <a:srgbClr val="EC1B23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Collapse of LLMs</a:t>
            </a:r>
            <a:r>
              <a:rPr lang="zh-CN" altLang="en-US" sz="6200" b="1">
                <a:solidFill>
                  <a:srgbClr val="EE292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6200" b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in Model</a:t>
            </a:r>
            <a:r>
              <a:rPr lang="zh-CN" altLang="en-US" sz="6200" b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6200" b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Editing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altLang="zh-CN" sz="4400" err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Wanli</a:t>
            </a:r>
            <a:r>
              <a:rPr lang="en-US" altLang="zh-CN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Yang</a:t>
            </a:r>
            <a:r>
              <a:rPr lang="en-US" altLang="zh-CN" sz="4400" baseline="300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1,2</a:t>
            </a:r>
            <a:r>
              <a:rPr lang="en-US" altLang="zh-CN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 </a:t>
            </a:r>
            <a:r>
              <a:rPr lang="zh-CN" altLang="en-US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Fei Sun</a:t>
            </a:r>
            <a:r>
              <a:rPr lang="en-US" altLang="zh-CN" sz="4400" baseline="300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</a:t>
            </a:r>
            <a:r>
              <a:rPr lang="en-US" altLang="zh-CN" sz="4400" baseline="300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  <a:sym typeface="Wingdings 2" panose="05020102010507070707" pitchFamily="18" charset="2"/>
              </a:rPr>
              <a:t></a:t>
            </a:r>
            <a:r>
              <a:rPr lang="en-US" altLang="zh-CN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 </a:t>
            </a:r>
            <a:r>
              <a:rPr lang="zh-CN" altLang="en-US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400" err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Jiajun</a:t>
            </a:r>
            <a:r>
              <a:rPr lang="en-US" altLang="zh-CN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Tan</a:t>
            </a:r>
            <a:r>
              <a:rPr lang="en-US" altLang="zh-CN" sz="4400" baseline="300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</a:t>
            </a:r>
            <a:r>
              <a:rPr lang="en-US" altLang="zh-CN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</a:t>
            </a:r>
            <a:r>
              <a:rPr lang="zh-CN" altLang="en-US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 </a:t>
            </a:r>
            <a:r>
              <a:rPr lang="en-US" altLang="zh-CN" sz="4400" err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Xinyu</a:t>
            </a:r>
            <a:r>
              <a:rPr lang="en-US" altLang="zh-CN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Ma</a:t>
            </a:r>
            <a:r>
              <a:rPr lang="en-US" altLang="zh-CN" sz="4400" baseline="300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3</a:t>
            </a:r>
            <a:r>
              <a:rPr lang="en-US" altLang="zh-CN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</a:t>
            </a:r>
            <a:r>
              <a:rPr lang="zh-CN" altLang="en-US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 </a:t>
            </a:r>
            <a:r>
              <a:rPr lang="en-US" altLang="zh-CN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Du</a:t>
            </a:r>
            <a:r>
              <a:rPr lang="zh-CN" altLang="en-US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Su</a:t>
            </a:r>
            <a:r>
              <a:rPr lang="en-US" altLang="zh-CN" sz="4400" baseline="300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</a:t>
            </a:r>
            <a:r>
              <a:rPr lang="en-US" altLang="zh-CN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</a:t>
            </a:r>
            <a:r>
              <a:rPr lang="zh-CN" altLang="en-US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 </a:t>
            </a:r>
            <a:r>
              <a:rPr lang="en-US" altLang="zh-CN" sz="4400" err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Dawei</a:t>
            </a:r>
            <a:r>
              <a:rPr lang="en-US" altLang="zh-CN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Yin</a:t>
            </a:r>
            <a:r>
              <a:rPr lang="en-US" altLang="zh-CN" sz="4400" baseline="300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3</a:t>
            </a:r>
            <a:r>
              <a:rPr lang="en-US" altLang="zh-CN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</a:t>
            </a:r>
            <a:r>
              <a:rPr lang="zh-CN" altLang="en-US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4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Huawei Shen</a:t>
            </a:r>
            <a:r>
              <a:rPr lang="en-US" altLang="zh-CN" sz="4400" baseline="3000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1,2</a:t>
            </a:r>
          </a:p>
        </p:txBody>
      </p:sp>
      <p:pic>
        <p:nvPicPr>
          <p:cNvPr id="1035" name="图形 20">
            <a:extLst>
              <a:ext uri="{FF2B5EF4-FFF2-40B4-BE49-F238E27FC236}">
                <a16:creationId xmlns:a16="http://schemas.microsoft.com/office/drawing/2014/main" id="{54EA42D3-9BD0-0431-99C8-606EE53877A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33566" b="32255"/>
          <a:stretch/>
        </p:blipFill>
        <p:spPr>
          <a:xfrm>
            <a:off x="26058546" y="10031228"/>
            <a:ext cx="3540898" cy="1210245"/>
          </a:xfrm>
          <a:prstGeom prst="rect">
            <a:avLst/>
          </a:prstGeom>
        </p:spPr>
      </p:pic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884CF6CC-4E8C-E040-0D0B-7299F541829B}"/>
              </a:ext>
            </a:extLst>
          </p:cNvPr>
          <p:cNvGrpSpPr/>
          <p:nvPr/>
        </p:nvGrpSpPr>
        <p:grpSpPr>
          <a:xfrm>
            <a:off x="17077350" y="11783831"/>
            <a:ext cx="10966648" cy="1179161"/>
            <a:chOff x="18706761" y="11967109"/>
            <a:chExt cx="10187207" cy="1179161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4C07D306-DB1C-97AF-1393-240C74198BE9}"/>
                </a:ext>
              </a:extLst>
            </p:cNvPr>
            <p:cNvSpPr/>
            <p:nvPr/>
          </p:nvSpPr>
          <p:spPr>
            <a:xfrm>
              <a:off x="18706761" y="11967109"/>
              <a:ext cx="10144238" cy="117916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365E"/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BE4B2CC-DB85-0F8F-75B4-013884CB0076}"/>
                </a:ext>
              </a:extLst>
            </p:cNvPr>
            <p:cNvSpPr txBox="1"/>
            <p:nvPr/>
          </p:nvSpPr>
          <p:spPr>
            <a:xfrm>
              <a:off x="18918114" y="12158492"/>
              <a:ext cx="9975854" cy="86177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000" b="1">
                  <a:solidFill>
                    <a:srgbClr val="17365E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Why Only Fail in Collapse Case?</a:t>
              </a:r>
            </a:p>
          </p:txBody>
        </p:sp>
      </p:grpSp>
      <p:sp>
        <p:nvSpPr>
          <p:cNvPr id="1060" name="文本框 34">
            <a:extLst>
              <a:ext uri="{FF2B5EF4-FFF2-40B4-BE49-F238E27FC236}">
                <a16:creationId xmlns:a16="http://schemas.microsoft.com/office/drawing/2014/main" id="{CDC04F62-A204-1CEE-660B-BC1CE46FD6B6}"/>
              </a:ext>
            </a:extLst>
          </p:cNvPr>
          <p:cNvSpPr txBox="1"/>
          <p:nvPr/>
        </p:nvSpPr>
        <p:spPr>
          <a:xfrm>
            <a:off x="3294083" y="11959277"/>
            <a:ext cx="82092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000" b="1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Collapse</a:t>
            </a:r>
            <a:r>
              <a:rPr lang="zh-CN" altLang="en-US" sz="5000" b="1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5000" b="1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lang="zh-CN" altLang="en-US" sz="5000" b="1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5000" b="1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Editing</a:t>
            </a:r>
          </a:p>
        </p:txBody>
      </p:sp>
      <p:sp>
        <p:nvSpPr>
          <p:cNvPr id="1061" name="矩形: 圆角 13">
            <a:extLst>
              <a:ext uri="{FF2B5EF4-FFF2-40B4-BE49-F238E27FC236}">
                <a16:creationId xmlns:a16="http://schemas.microsoft.com/office/drawing/2014/main" id="{153D7C16-ABB3-34FA-2CA0-A8CD3C38F2FD}"/>
              </a:ext>
            </a:extLst>
          </p:cNvPr>
          <p:cNvSpPr/>
          <p:nvPr/>
        </p:nvSpPr>
        <p:spPr>
          <a:xfrm>
            <a:off x="17687100" y="31785396"/>
            <a:ext cx="10005444" cy="1179161"/>
          </a:xfrm>
          <a:prstGeom prst="roundRect">
            <a:avLst/>
          </a:prstGeom>
          <a:solidFill>
            <a:srgbClr val="FFFFFF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i="1" err="1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C-ROME</a:t>
            </a:r>
            <a:r>
              <a:rPr lang="en-US" altLang="zh-CN" sz="5000" b="1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: A Simple Solution</a:t>
            </a:r>
          </a:p>
        </p:txBody>
      </p:sp>
      <p:sp>
        <p:nvSpPr>
          <p:cNvPr id="1073" name="矩形: 圆角 13">
            <a:extLst>
              <a:ext uri="{FF2B5EF4-FFF2-40B4-BE49-F238E27FC236}">
                <a16:creationId xmlns:a16="http://schemas.microsoft.com/office/drawing/2014/main" id="{D631CEB2-2CEE-32D4-E4A3-BED5E96BDF0C}"/>
              </a:ext>
            </a:extLst>
          </p:cNvPr>
          <p:cNvSpPr/>
          <p:nvPr/>
        </p:nvSpPr>
        <p:spPr>
          <a:xfrm>
            <a:off x="1965539" y="30008232"/>
            <a:ext cx="11175947" cy="1179161"/>
          </a:xfrm>
          <a:prstGeom prst="roundRect">
            <a:avLst/>
          </a:prstGeom>
          <a:solidFill>
            <a:srgbClr val="FFFFFF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Direct</a:t>
            </a:r>
            <a:r>
              <a:rPr lang="zh-CN" altLang="en-US" sz="5000" b="1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5000" b="1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Reasons Behind Collapse?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1DF171-2C0D-2428-9986-478A6A081C53}"/>
              </a:ext>
            </a:extLst>
          </p:cNvPr>
          <p:cNvSpPr txBox="1"/>
          <p:nvPr/>
        </p:nvSpPr>
        <p:spPr>
          <a:xfrm>
            <a:off x="702029" y="18614170"/>
            <a:ext cx="138932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4000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Model collapses caused by single edits of ROME</a:t>
            </a:r>
            <a:r>
              <a:rPr lang="zh-CN" altLang="en-US" sz="4000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lang="en-US" altLang="zh-CN" sz="4000" kern="23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occur in </a:t>
            </a:r>
            <a:r>
              <a:rPr lang="en-US" altLang="zh-CN" sz="4000" b="1" kern="23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GPT-2-XL</a:t>
            </a:r>
            <a:r>
              <a:rPr lang="en-US" altLang="zh-CN" sz="4000" kern="23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, </a:t>
            </a:r>
            <a:r>
              <a:rPr lang="en-US" altLang="zh-CN" sz="4000" b="1" kern="23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GPT-J</a:t>
            </a:r>
            <a:r>
              <a:rPr lang="en-US" altLang="zh-CN" sz="4000" kern="23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, and </a:t>
            </a:r>
            <a:r>
              <a:rPr lang="en-US" altLang="zh-CN" sz="4000" b="1" kern="23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Llama2-7b</a:t>
            </a:r>
            <a:r>
              <a:rPr lang="en-US" altLang="zh-CN" sz="4000" kern="23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D09472E-4FDE-4FB0-6911-ECA85F4BEFF9}"/>
              </a:ext>
            </a:extLst>
          </p:cNvPr>
          <p:cNvSpPr txBox="1"/>
          <p:nvPr/>
        </p:nvSpPr>
        <p:spPr>
          <a:xfrm>
            <a:off x="15897194" y="17447599"/>
            <a:ext cx="13663342" cy="356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14000"/>
              </a:lnSpc>
              <a:buSzPct val="60000"/>
              <a:buFont typeface="Wingdings" panose="05000000000000000000" pitchFamily="2" charset="2"/>
              <a:buChar char="l"/>
            </a:pP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In collapse cases, two elements </a:t>
            </a:r>
            <a:r>
              <a:rPr lang="zh-CN" altLang="en-US" sz="4000">
                <a:latin typeface="Helvetica" panose="020B0604020202020204" pitchFamily="34" charset="0"/>
                <a:cs typeface="Helvetica" panose="020B0604020202020204" pitchFamily="34" charset="0"/>
              </a:rPr>
              <a:t>            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zh-CN" altLang="en-US" sz="4000">
                <a:latin typeface="Helvetica" panose="020B0604020202020204" pitchFamily="34" charset="0"/>
                <a:cs typeface="Helvetica" panose="020B0604020202020204" pitchFamily="34" charset="0"/>
              </a:rPr>
              <a:t>     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of the denominator </a:t>
            </a:r>
            <a:r>
              <a:rPr lang="en-US" altLang="zh-CN" sz="4000" b="1">
                <a:latin typeface="Helvetica" panose="020B0604020202020204" pitchFamily="34" charset="0"/>
                <a:cs typeface="Helvetica" panose="020B0604020202020204" pitchFamily="34" charset="0"/>
              </a:rPr>
              <a:t>show</a:t>
            </a:r>
            <a:r>
              <a:rPr lang="zh-CN" altLang="en-US" sz="4000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b="1">
                <a:latin typeface="Helvetica" panose="020B0604020202020204" pitchFamily="34" charset="0"/>
                <a:cs typeface="Helvetica" panose="020B0604020202020204" pitchFamily="34" charset="0"/>
              </a:rPr>
              <a:t>significant difference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,</a:t>
            </a:r>
            <a:r>
              <a:rPr lang="zh-CN" altLang="en-US" sz="40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leading</a:t>
            </a:r>
            <a:r>
              <a:rPr lang="zh-CN" altLang="en-US" sz="40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to small denominator</a:t>
            </a:r>
            <a:r>
              <a:rPr lang="zh-CN" altLang="en-US" sz="40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and large update matrix.</a:t>
            </a:r>
          </a:p>
          <a:p>
            <a:pPr marL="571500" indent="-571500">
              <a:lnSpc>
                <a:spcPct val="114000"/>
              </a:lnSpc>
              <a:buSzPct val="60000"/>
              <a:buFont typeface="Wingdings" panose="05000000000000000000" pitchFamily="2" charset="2"/>
              <a:buChar char="l"/>
            </a:pPr>
            <a:r>
              <a:rPr lang="en-US" altLang="zh-CN" sz="40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Considering</a:t>
            </a:r>
            <a:r>
              <a:rPr lang="zh-CN" altLang="en-US" sz="40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    </a:t>
            </a:r>
            <a:r>
              <a:rPr lang="en-US" altLang="zh-CN" sz="40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is a constant,</a:t>
            </a:r>
            <a:r>
              <a:rPr lang="zh-CN" altLang="en-US" sz="40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lang="en-US" altLang="zh-CN" sz="40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this phenomenon</a:t>
            </a:r>
            <a:r>
              <a:rPr lang="zh-CN" altLang="en-US" sz="40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lang="en-US" altLang="zh-CN" sz="40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originates from</a:t>
            </a:r>
            <a:r>
              <a:rPr lang="zh-CN" altLang="en-US" sz="40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lang="en-US" altLang="zh-CN" sz="4000" b="1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difference</a:t>
            </a:r>
            <a:r>
              <a:rPr lang="zh-CN" altLang="en-US" sz="4000" b="1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lang="en-US" altLang="zh-CN" sz="4000" b="1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between</a:t>
            </a:r>
            <a:r>
              <a:rPr lang="zh-CN" altLang="en-US" sz="40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    </a:t>
            </a:r>
            <a:r>
              <a:rPr lang="en-US" altLang="zh-CN" sz="40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and </a:t>
            </a:r>
            <a:r>
              <a:rPr lang="zh-CN" altLang="en-US" sz="40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   </a:t>
            </a:r>
            <a:r>
              <a:rPr lang="en-US" altLang="zh-CN" sz="400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155E905-A9C2-C5AF-D00E-257B67CA8A12}"/>
              </a:ext>
            </a:extLst>
          </p:cNvPr>
          <p:cNvSpPr txBox="1"/>
          <p:nvPr/>
        </p:nvSpPr>
        <p:spPr>
          <a:xfrm>
            <a:off x="619715" y="31911487"/>
            <a:ext cx="14553062" cy="141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10000"/>
              </a:lnSpc>
              <a:buSzPct val="60000"/>
              <a:buFont typeface="Wingdings" panose="05000000000000000000" pitchFamily="2" charset="2"/>
              <a:buChar char="l"/>
              <a:defRPr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Ideally,</a:t>
            </a:r>
            <a:r>
              <a:rPr lang="zh-CN" alt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zh-CN" alt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keys</a:t>
            </a:r>
            <a:r>
              <a:rPr lang="zh-CN" alt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r-FR" altLang="zh-CN" sz="4000" dirty="0" err="1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lang="fr-FR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r-FR" altLang="zh-CN" sz="4000" dirty="0" err="1">
                <a:latin typeface="Helvetica" panose="020B0604020202020204" pitchFamily="34" charset="0"/>
                <a:cs typeface="Helvetica" panose="020B0604020202020204" pitchFamily="34" charset="0"/>
              </a:rPr>
              <a:t>be</a:t>
            </a:r>
            <a:r>
              <a:rPr lang="fr-FR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an </a:t>
            </a:r>
            <a:r>
              <a:rPr lang="fr-FR" altLang="zh-CN" sz="4000" dirty="0" err="1">
                <a:latin typeface="Helvetica" panose="020B0604020202020204" pitchFamily="34" charset="0"/>
                <a:cs typeface="Helvetica" panose="020B0604020202020204" pitchFamily="34" charset="0"/>
              </a:rPr>
              <a:t>average</a:t>
            </a:r>
            <a:r>
              <a:rPr lang="fr-FR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r-FR" altLang="zh-CN" sz="4000" dirty="0" err="1">
                <a:latin typeface="Helvetica" panose="020B0604020202020204" pitchFamily="34" charset="0"/>
                <a:cs typeface="Helvetica" panose="020B0604020202020204" pitchFamily="34" charset="0"/>
              </a:rPr>
              <a:t>vector</a:t>
            </a:r>
            <a:r>
              <a:rPr lang="fr-FR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r-FR" altLang="zh-CN" sz="4000" dirty="0" err="1">
                <a:latin typeface="Helvetica" panose="020B0604020202020204" pitchFamily="34" charset="0"/>
                <a:cs typeface="Helvetica" panose="020B0604020202020204" pitchFamily="34" charset="0"/>
              </a:rPr>
              <a:t>derived</a:t>
            </a:r>
            <a:r>
              <a:rPr lang="fr-FR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r-FR" altLang="zh-CN" sz="4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from</a:t>
            </a:r>
            <a:r>
              <a:rPr lang="fr-FR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r-FR" altLang="zh-CN" sz="4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various</a:t>
            </a:r>
            <a:r>
              <a:rPr lang="fr-FR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r-FR" altLang="zh-CN" sz="4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contexts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等线" panose="02010600030101010101" pitchFamily="2" charset="-122"/>
              <a:cs typeface="Helvetica" panose="020B0604020202020204" pitchFamily="34" charset="0"/>
            </a:endParaRPr>
          </a:p>
        </p:txBody>
      </p:sp>
      <p:sp>
        <p:nvSpPr>
          <p:cNvPr id="49" name="TextBox 13">
            <a:extLst>
              <a:ext uri="{FF2B5EF4-FFF2-40B4-BE49-F238E27FC236}">
                <a16:creationId xmlns:a16="http://schemas.microsoft.com/office/drawing/2014/main" id="{5952E796-E828-A27C-E095-FD22A899C152}"/>
              </a:ext>
            </a:extLst>
          </p:cNvPr>
          <p:cNvSpPr txBox="1"/>
          <p:nvPr/>
        </p:nvSpPr>
        <p:spPr>
          <a:xfrm>
            <a:off x="25347774" y="4505392"/>
            <a:ext cx="32780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>
                <a:solidFill>
                  <a:srgbClr val="97B8DA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More</a:t>
            </a:r>
            <a:r>
              <a:rPr lang="zh-CN" altLang="en-US" sz="4000" b="1">
                <a:solidFill>
                  <a:srgbClr val="97B8DA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b="1">
                <a:solidFill>
                  <a:srgbClr val="97B8DA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Details</a:t>
            </a:r>
            <a:endParaRPr lang="en-GB" sz="4000" b="1">
              <a:solidFill>
                <a:srgbClr val="97B8DA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65" name="矩形: 圆角 13">
            <a:extLst>
              <a:ext uri="{FF2B5EF4-FFF2-40B4-BE49-F238E27FC236}">
                <a16:creationId xmlns:a16="http://schemas.microsoft.com/office/drawing/2014/main" id="{BA208439-DB3A-1A6E-81FC-6061D3967DF6}"/>
              </a:ext>
            </a:extLst>
          </p:cNvPr>
          <p:cNvSpPr/>
          <p:nvPr/>
        </p:nvSpPr>
        <p:spPr>
          <a:xfrm>
            <a:off x="3485801" y="21437121"/>
            <a:ext cx="8186451" cy="1179161"/>
          </a:xfrm>
          <a:prstGeom prst="roundRect">
            <a:avLst/>
          </a:prstGeom>
          <a:solidFill>
            <a:srgbClr val="FFFFFF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>
                <a:solidFill>
                  <a:srgbClr val="16345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Rank-One Model </a:t>
            </a:r>
            <a:r>
              <a:rPr lang="en-US" altLang="zh-CN" sz="5000" b="1" err="1">
                <a:solidFill>
                  <a:srgbClr val="16345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Editng</a:t>
            </a:r>
            <a:endParaRPr lang="zh-CN" altLang="en-US" sz="5000" b="1">
              <a:solidFill>
                <a:srgbClr val="16345C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2" name="图形 41">
            <a:extLst>
              <a:ext uri="{FF2B5EF4-FFF2-40B4-BE49-F238E27FC236}">
                <a16:creationId xmlns:a16="http://schemas.microsoft.com/office/drawing/2014/main" id="{6876BE47-DAA3-0694-66C6-4757DAF5C6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858331" y="41424178"/>
            <a:ext cx="908735" cy="908735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B8F9FCD5-4C97-3838-0A50-BD5E00B8304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4183" y="41453031"/>
            <a:ext cx="843161" cy="843161"/>
          </a:xfrm>
          <a:prstGeom prst="rect">
            <a:avLst/>
          </a:prstGeom>
        </p:spPr>
      </p:pic>
      <p:pic>
        <p:nvPicPr>
          <p:cNvPr id="52" name="图形 51">
            <a:extLst>
              <a:ext uri="{FF2B5EF4-FFF2-40B4-BE49-F238E27FC236}">
                <a16:creationId xmlns:a16="http://schemas.microsoft.com/office/drawing/2014/main" id="{A2426632-C6F3-ED85-C077-81621469940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218464" y="41424178"/>
            <a:ext cx="908735" cy="908735"/>
          </a:xfrm>
          <a:prstGeom prst="rect">
            <a:avLst/>
          </a:prstGeom>
        </p:spPr>
      </p:pic>
      <p:pic>
        <p:nvPicPr>
          <p:cNvPr id="28" name="图形 27">
            <a:extLst>
              <a:ext uri="{FF2B5EF4-FFF2-40B4-BE49-F238E27FC236}">
                <a16:creationId xmlns:a16="http://schemas.microsoft.com/office/drawing/2014/main" id="{B1D43796-38AA-E549-9F81-DD2B425201D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49854" y="7580549"/>
            <a:ext cx="1221335" cy="1221335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53024291-7CCA-5E42-AA83-E5555FDB2B0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252961" y="7829560"/>
            <a:ext cx="3307575" cy="1860511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76A6909A-0F6F-3D49-86A3-894099317E8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9991" y="20093517"/>
            <a:ext cx="707800" cy="7078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35E4856-AB51-C849-884E-AF634A1E4EC8}"/>
              </a:ext>
            </a:extLst>
          </p:cNvPr>
          <p:cNvSpPr txBox="1"/>
          <p:nvPr/>
        </p:nvSpPr>
        <p:spPr>
          <a:xfrm>
            <a:off x="1547011" y="20093431"/>
            <a:ext cx="10415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4000" b="1" i="0" u="none" strike="noStrike" kern="2300" cap="none" spc="0" normalizeH="0" baseline="0" noProof="0" err="1">
                <a:ln>
                  <a:noFill/>
                </a:ln>
                <a:solidFill>
                  <a:srgbClr val="EB1C24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Why</a:t>
            </a:r>
            <a:r>
              <a:rPr kumimoji="0" lang="fr-FR" altLang="zh-CN" sz="4000" b="1" i="0" u="none" strike="noStrike" kern="2300" cap="none" spc="0" normalizeH="0" baseline="0" noProof="0">
                <a:ln>
                  <a:noFill/>
                </a:ln>
                <a:solidFill>
                  <a:srgbClr val="EB1C24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kumimoji="0" lang="fr-FR" altLang="zh-CN" sz="4000" b="1" i="0" u="none" strike="noStrike" kern="2300" cap="none" spc="0" normalizeH="0" baseline="0" noProof="0" err="1">
                <a:ln>
                  <a:noFill/>
                </a:ln>
                <a:solidFill>
                  <a:srgbClr val="EB1C24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Does</a:t>
            </a:r>
            <a:r>
              <a:rPr kumimoji="0" lang="fr-FR" altLang="zh-CN" sz="4000" b="1" i="0" u="none" strike="noStrike" kern="2300" cap="none" spc="0" normalizeH="0" baseline="0" noProof="0">
                <a:ln>
                  <a:noFill/>
                </a:ln>
                <a:solidFill>
                  <a:srgbClr val="EB1C24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ROME Cause </a:t>
            </a:r>
            <a:r>
              <a:rPr kumimoji="0" lang="fr-FR" altLang="zh-CN" sz="4000" b="1" i="0" u="none" strike="noStrike" kern="2300" cap="none" spc="0" normalizeH="0" baseline="0" noProof="0" err="1">
                <a:ln>
                  <a:noFill/>
                </a:ln>
                <a:solidFill>
                  <a:srgbClr val="EB1C24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LLMs</a:t>
            </a:r>
            <a:r>
              <a:rPr kumimoji="0" lang="fr-FR" altLang="zh-CN" sz="4000" b="1" i="0" u="none" strike="noStrike" kern="2300" cap="none" spc="0" normalizeH="0" baseline="0" noProof="0">
                <a:ln>
                  <a:noFill/>
                </a:ln>
                <a:solidFill>
                  <a:srgbClr val="EB1C24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Collapse? </a:t>
            </a:r>
            <a:endParaRPr kumimoji="0" lang="en-US" altLang="zh-CN" sz="4000" b="1" i="0" u="none" strike="noStrike" kern="2300" cap="none" spc="0" normalizeH="0" baseline="0" noProof="0">
              <a:ln>
                <a:noFill/>
              </a:ln>
              <a:solidFill>
                <a:srgbClr val="EB1C24"/>
              </a:solidFill>
              <a:effectLst/>
              <a:uLnTx/>
              <a:uFillTx/>
              <a:latin typeface="Helvetica" panose="020B0604020202020204" pitchFamily="34" charset="0"/>
              <a:ea typeface="等线" panose="02010600030101010101" pitchFamily="2" charset="-122"/>
              <a:cs typeface="Helvetica" panose="020B0604020202020204" pitchFamily="34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63C8D79-90FE-4545-8B41-F2643B9C171D}"/>
              </a:ext>
            </a:extLst>
          </p:cNvPr>
          <p:cNvSpPr txBox="1"/>
          <p:nvPr/>
        </p:nvSpPr>
        <p:spPr>
          <a:xfrm>
            <a:off x="697493" y="27343031"/>
            <a:ext cx="1361747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10000"/>
              </a:lnSpc>
              <a:buSzPct val="60000"/>
              <a:buFont typeface="Wingdings" panose="05000000000000000000" pitchFamily="2" charset="2"/>
              <a:buChar char="l"/>
              <a:defRPr/>
            </a:pPr>
            <a:r>
              <a:rPr lang="en-US" altLang="zh-CN" sz="4000">
                <a:latin typeface="Helvetica" panose="020B0604020202020204" pitchFamily="34" charset="0"/>
                <a:cs typeface="Times New Roman" panose="02020603050405020304" pitchFamily="18" charset="0"/>
              </a:rPr>
              <a:t>Subject </a:t>
            </a:r>
            <a:r>
              <a:rPr lang="en-US" altLang="zh-CN" sz="4000" i="1">
                <a:latin typeface="Helvetica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altLang="zh-CN" sz="4000">
                <a:latin typeface="Helvetica" panose="020B0604020202020204" pitchFamily="34" charset="0"/>
                <a:cs typeface="Times New Roman" panose="02020603050405020304" pitchFamily="18" charset="0"/>
              </a:rPr>
              <a:t> forms a </a:t>
            </a:r>
            <a:r>
              <a:rPr lang="en-US" altLang="zh-CN" sz="4000" b="1">
                <a:solidFill>
                  <a:srgbClr val="EB1C24"/>
                </a:solidFill>
                <a:latin typeface="Helvetica" panose="020B0604020202020204" pitchFamily="34" charset="0"/>
                <a:cs typeface="Times New Roman" panose="02020603050405020304" pitchFamily="18" charset="0"/>
              </a:rPr>
              <a:t>key</a:t>
            </a:r>
            <a:r>
              <a:rPr lang="en-US" altLang="zh-CN" sz="4000">
                <a:latin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4000" b="1" i="1">
                <a:latin typeface="Helvetica" panose="020B0604020202020204" pitchFamily="34" charset="0"/>
                <a:cs typeface="Times New Roman" panose="02020603050405020304" pitchFamily="18" charset="0"/>
              </a:rPr>
              <a:t>k</a:t>
            </a:r>
            <a:r>
              <a:rPr lang="en-US" altLang="zh-CN" sz="4000">
                <a:latin typeface="Helvetica" panose="020B0604020202020204" pitchFamily="34" charset="0"/>
                <a:cs typeface="Times New Roman" panose="02020603050405020304" pitchFamily="18" charset="0"/>
              </a:rPr>
              <a:t> within a specific MLP.</a:t>
            </a: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71500" marR="0" lvl="0" indent="-57150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Corresponding output forms a </a:t>
            </a: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EB1C24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value</a:t>
            </a: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4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to predict object </a:t>
            </a:r>
            <a:r>
              <a:rPr kumimoji="0" lang="en-US" altLang="zh-CN" sz="4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571500" marR="0" lvl="0" indent="-57150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kumimoji="0" lang="fr-FR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ROME modifies the </a:t>
            </a:r>
            <a:r>
              <a:rPr kumimoji="0" lang="fr-FR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EB1C24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value</a:t>
            </a:r>
            <a:r>
              <a:rPr kumimoji="0" lang="fr-FR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fr-FR" altLang="zh-CN" sz="4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fr-FR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to </a:t>
            </a:r>
            <a:r>
              <a:rPr kumimoji="0" lang="fr-FR" altLang="zh-CN" sz="4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edit</a:t>
            </a:r>
            <a:r>
              <a:rPr kumimoji="0" lang="fr-FR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the </a:t>
            </a:r>
            <a:r>
              <a:rPr kumimoji="0" lang="fr-FR" altLang="zh-CN" sz="4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object</a:t>
            </a:r>
            <a:r>
              <a:rPr kumimoji="0" lang="fr-FR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fr-FR" altLang="zh-CN" sz="4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fr-FR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to </a:t>
            </a:r>
            <a:r>
              <a:rPr lang="fr-FR" altLang="zh-CN" sz="4000" i="1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o*</a:t>
            </a:r>
            <a:r>
              <a:rPr kumimoji="0" lang="fr-FR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4C81146-1B68-2C48-9904-BF874C87CFB3}"/>
              </a:ext>
            </a:extLst>
          </p:cNvPr>
          <p:cNvSpPr txBox="1"/>
          <p:nvPr/>
        </p:nvSpPr>
        <p:spPr>
          <a:xfrm>
            <a:off x="619716" y="36062584"/>
            <a:ext cx="10411533" cy="741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10000"/>
              </a:lnSpc>
              <a:buSzPct val="60000"/>
              <a:buFont typeface="Wingdings" panose="05000000000000000000" pitchFamily="2" charset="2"/>
              <a:buChar char="l"/>
              <a:defRPr/>
            </a:pP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The update matrix</a:t>
            </a:r>
            <a:r>
              <a:rPr lang="zh-CN" altLang="en-US" sz="4000">
                <a:latin typeface="Helvetica" panose="020B0604020202020204" pitchFamily="34" charset="0"/>
                <a:cs typeface="Helvetica" panose="020B0604020202020204" pitchFamily="34" charset="0"/>
              </a:rPr>
              <a:t> ∆ 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lang="zh-CN" altLang="en-US" sz="40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the original code:</a:t>
            </a: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等线" panose="02010600030101010101" pitchFamily="2" charset="-122"/>
              <a:cs typeface="Helvetica" panose="020B0604020202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338A7BCD-C2C1-E649-B8C0-84B77F98ADBE}"/>
              </a:ext>
            </a:extLst>
          </p:cNvPr>
          <p:cNvSpPr txBox="1"/>
          <p:nvPr/>
        </p:nvSpPr>
        <p:spPr>
          <a:xfrm>
            <a:off x="579677" y="34387076"/>
            <a:ext cx="13950307" cy="141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10000"/>
              </a:lnSpc>
              <a:buSzPct val="60000"/>
              <a:buFont typeface="Wingdings" panose="05000000000000000000" pitchFamily="2" charset="2"/>
              <a:buChar char="l"/>
              <a:defRPr/>
            </a:pP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Some keys</a:t>
            </a:r>
            <a:r>
              <a:rPr lang="zh-CN" altLang="en-US" sz="40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utilize a representation over the subject </a:t>
            </a:r>
            <a:r>
              <a:rPr lang="en-US" altLang="zh-CN" sz="4000" i="1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b="1">
                <a:latin typeface="Helvetica" panose="020B0604020202020204" pitchFamily="34" charset="0"/>
                <a:cs typeface="Helvetica" panose="020B0604020202020204" pitchFamily="34" charset="0"/>
              </a:rPr>
              <a:t>wit-hout any prefix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等线" panose="02010600030101010101" pitchFamily="2" charset="-122"/>
              <a:cs typeface="Helvetica" panose="020B0604020202020204" pitchFamily="34" charset="0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8D0F0120-89DF-7B48-93C4-E787AD5C9B5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039018" y="32974012"/>
            <a:ext cx="10491003" cy="5058364"/>
          </a:xfrm>
          <a:prstGeom prst="rect">
            <a:avLst/>
          </a:prstGeom>
        </p:spPr>
      </p:pic>
      <p:pic>
        <p:nvPicPr>
          <p:cNvPr id="101" name="图片 100">
            <a:extLst>
              <a:ext uri="{FF2B5EF4-FFF2-40B4-BE49-F238E27FC236}">
                <a16:creationId xmlns:a16="http://schemas.microsoft.com/office/drawing/2014/main" id="{EAB86530-E5C3-4541-8D96-6593577BB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6568" y="22026701"/>
            <a:ext cx="14366508" cy="9411469"/>
          </a:xfrm>
          <a:prstGeom prst="rect">
            <a:avLst/>
          </a:prstGeom>
        </p:spPr>
      </p:pic>
      <p:grpSp>
        <p:nvGrpSpPr>
          <p:cNvPr id="102" name="Group 1038">
            <a:extLst>
              <a:ext uri="{FF2B5EF4-FFF2-40B4-BE49-F238E27FC236}">
                <a16:creationId xmlns:a16="http://schemas.microsoft.com/office/drawing/2014/main" id="{0587487D-4DBD-FD41-AB99-CACF1E596613}"/>
              </a:ext>
            </a:extLst>
          </p:cNvPr>
          <p:cNvGrpSpPr/>
          <p:nvPr/>
        </p:nvGrpSpPr>
        <p:grpSpPr>
          <a:xfrm>
            <a:off x="17077349" y="21396476"/>
            <a:ext cx="10920391" cy="1179161"/>
            <a:chOff x="18706761" y="11967109"/>
            <a:chExt cx="10144238" cy="1179161"/>
          </a:xfrm>
        </p:grpSpPr>
        <p:sp>
          <p:nvSpPr>
            <p:cNvPr id="103" name="矩形: 圆角 26">
              <a:extLst>
                <a:ext uri="{FF2B5EF4-FFF2-40B4-BE49-F238E27FC236}">
                  <a16:creationId xmlns:a16="http://schemas.microsoft.com/office/drawing/2014/main" id="{0673466C-BC49-8A49-B14F-38324893D0F0}"/>
                </a:ext>
              </a:extLst>
            </p:cNvPr>
            <p:cNvSpPr/>
            <p:nvPr/>
          </p:nvSpPr>
          <p:spPr>
            <a:xfrm>
              <a:off x="18706761" y="11967109"/>
              <a:ext cx="10144238" cy="117916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365E"/>
                </a:solidFill>
              </a:endParaRP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F0566CAA-C716-E944-9BA6-D6CE3046CE2C}"/>
                </a:ext>
              </a:extLst>
            </p:cNvPr>
            <p:cNvSpPr txBox="1"/>
            <p:nvPr/>
          </p:nvSpPr>
          <p:spPr>
            <a:xfrm>
              <a:off x="19142818" y="12164874"/>
              <a:ext cx="9526449" cy="86177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000" b="1">
                  <a:solidFill>
                    <a:srgbClr val="17365E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Why Unprefixed</a:t>
              </a:r>
              <a:r>
                <a:rPr lang="zh-CN" altLang="en-US" sz="5000" b="1">
                  <a:solidFill>
                    <a:srgbClr val="17365E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 </a:t>
              </a:r>
              <a:r>
                <a:rPr lang="en-US" altLang="zh-CN" sz="5000" b="1">
                  <a:solidFill>
                    <a:srgbClr val="17365E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Key</a:t>
              </a:r>
              <a:r>
                <a:rPr lang="zh-CN" altLang="en-US" sz="5000" b="1">
                  <a:solidFill>
                    <a:srgbClr val="17365E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 </a:t>
              </a:r>
              <a:r>
                <a:rPr lang="en-US" altLang="zh-CN" sz="5000" b="1">
                  <a:solidFill>
                    <a:srgbClr val="17365E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Different?</a:t>
              </a:r>
            </a:p>
          </p:txBody>
        </p:sp>
      </p:grp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320FA9C-C198-0749-8E62-34E3ED85B5AB}"/>
              </a:ext>
            </a:extLst>
          </p:cNvPr>
          <p:cNvSpPr txBox="1"/>
          <p:nvPr/>
        </p:nvSpPr>
        <p:spPr>
          <a:xfrm>
            <a:off x="15897195" y="26947257"/>
            <a:ext cx="13663341" cy="426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14000"/>
              </a:lnSpc>
              <a:buSzPct val="60000"/>
              <a:buFont typeface="Wingdings" panose="05000000000000000000" pitchFamily="2" charset="2"/>
              <a:buChar char="l"/>
            </a:pP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Collapse cases for both GPT-2-XL and GPT-J share</a:t>
            </a:r>
            <a:r>
              <a:rPr lang="zh-CN" altLang="en-US" sz="40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a common pattern</a:t>
            </a:r>
            <a:r>
              <a:rPr lang="en-US" altLang="zh-CN" sz="4000" i="1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r>
              <a:rPr lang="zh-CN" altLang="en-US" sz="4000" i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b="1" i="1">
                <a:latin typeface="Helvetica" panose="020B0604020202020204" pitchFamily="34" charset="0"/>
                <a:cs typeface="Helvetica" panose="020B0604020202020204" pitchFamily="34" charset="0"/>
              </a:rPr>
              <a:t>the subject</a:t>
            </a:r>
            <a:r>
              <a:rPr lang="zh-CN" altLang="en-US" sz="4000" b="1" i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b="1" i="1">
                <a:latin typeface="Helvetica" panose="020B0604020202020204" pitchFamily="34" charset="0"/>
                <a:cs typeface="Helvetica" panose="020B0604020202020204" pitchFamily="34" charset="0"/>
              </a:rPr>
              <a:t>is the first token of input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571500" indent="-571500">
              <a:lnSpc>
                <a:spcPct val="114000"/>
              </a:lnSpc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b="1">
                <a:solidFill>
                  <a:srgbClr val="EB1C2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First token</a:t>
            </a:r>
            <a:r>
              <a:rPr lang="en-US" altLang="zh-CN" sz="4000">
                <a:solidFill>
                  <a:srgbClr val="EB1C2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b="1">
                <a:solidFill>
                  <a:srgbClr val="EB1C2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distributes</a:t>
            </a:r>
            <a:r>
              <a:rPr lang="zh-CN" altLang="en-US" sz="4000">
                <a:solidFill>
                  <a:srgbClr val="EB1C2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b="1">
                <a:solidFill>
                  <a:srgbClr val="EB1C2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abnormally</a:t>
            </a:r>
            <a:r>
              <a:rPr lang="en-US" altLang="zh-CN" sz="4000">
                <a:solidFill>
                  <a:srgbClr val="EB1C2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1028700" lvl="1" indent="-571500">
              <a:lnSpc>
                <a:spcPct val="114000"/>
              </a:lnSpc>
              <a:buSzPct val="60000"/>
              <a:buFont typeface="Wingdings" pitchFamily="2" charset="2"/>
              <a:buChar char="l"/>
            </a:pP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First token in </a:t>
            </a:r>
            <a:r>
              <a:rPr lang="en-US" altLang="zh-CN" sz="4000" b="1">
                <a:latin typeface="Helvetica" panose="020B0604020202020204" pitchFamily="34" charset="0"/>
                <a:cs typeface="Helvetica" panose="020B0604020202020204" pitchFamily="34" charset="0"/>
              </a:rPr>
              <a:t>normal cases</a:t>
            </a:r>
            <a:r>
              <a:rPr lang="zh-CN" altLang="en-US" sz="40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also exhibit anomaly.</a:t>
            </a:r>
          </a:p>
          <a:p>
            <a:pPr marL="1028700" lvl="1" indent="-571500">
              <a:lnSpc>
                <a:spcPct val="114000"/>
              </a:lnSpc>
              <a:buSzPct val="60000"/>
              <a:buFont typeface="Wingdings" pitchFamily="2" charset="2"/>
              <a:buChar char="l"/>
            </a:pP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lang="zh-CN" altLang="en-US" sz="40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b="1">
                <a:latin typeface="Helvetica" panose="020B0604020202020204" pitchFamily="34" charset="0"/>
                <a:cs typeface="Helvetica" panose="020B0604020202020204" pitchFamily="34" charset="0"/>
              </a:rPr>
              <a:t>collapse</a:t>
            </a:r>
            <a:r>
              <a:rPr lang="zh-CN" altLang="en-US" sz="4000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b="1">
                <a:latin typeface="Helvetica" panose="020B0604020202020204" pitchFamily="34" charset="0"/>
                <a:cs typeface="Helvetica" panose="020B0604020202020204" pitchFamily="34" charset="0"/>
              </a:rPr>
              <a:t>cases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, unprefixed keys not in the first token distribute normally.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A2A7E7D-EDCD-4C42-B24F-89FDD51F2AAC}"/>
              </a:ext>
            </a:extLst>
          </p:cNvPr>
          <p:cNvSpPr txBox="1"/>
          <p:nvPr/>
        </p:nvSpPr>
        <p:spPr>
          <a:xfrm>
            <a:off x="619715" y="31182104"/>
            <a:ext cx="11362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60000"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EB1C24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ROME adopts inconsistent keys in editing: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223EDE7-7855-3544-A697-1EB4C3F87E68}"/>
              </a:ext>
            </a:extLst>
          </p:cNvPr>
          <p:cNvSpPr txBox="1"/>
          <p:nvPr/>
        </p:nvSpPr>
        <p:spPr>
          <a:xfrm>
            <a:off x="26947708" y="33135249"/>
            <a:ext cx="25912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500" b="1" i="1">
                <a:solidFill>
                  <a:srgbClr val="EB1C24"/>
                </a:solidFill>
                <a:latin typeface="AkayaKanadaka" panose="02010502080401010103" pitchFamily="2" charset="0"/>
                <a:cs typeface="AkayaKanadaka" panose="02010502080401010103" pitchFamily="2" charset="0"/>
              </a:rPr>
              <a:t>Prevent </a:t>
            </a:r>
          </a:p>
          <a:p>
            <a:pPr>
              <a:lnSpc>
                <a:spcPct val="120000"/>
              </a:lnSpc>
            </a:pPr>
            <a:r>
              <a:rPr lang="en-US" altLang="zh-CN" sz="4500" b="1" i="1">
                <a:solidFill>
                  <a:srgbClr val="EB1C24"/>
                </a:solidFill>
                <a:latin typeface="AkayaKanadaka" panose="02010502080401010103" pitchFamily="2" charset="0"/>
                <a:cs typeface="AkayaKanadaka" panose="02010502080401010103" pitchFamily="2" charset="0"/>
              </a:rPr>
              <a:t>Collapse</a:t>
            </a:r>
          </a:p>
          <a:p>
            <a:pPr>
              <a:lnSpc>
                <a:spcPct val="120000"/>
              </a:lnSpc>
            </a:pPr>
            <a:r>
              <a:rPr lang="en-US" altLang="zh-CN" sz="4500" b="1" i="1">
                <a:solidFill>
                  <a:srgbClr val="EB1C24"/>
                </a:solidFill>
                <a:latin typeface="AkayaKanadaka" panose="02010502080401010103" pitchFamily="2" charset="0"/>
                <a:cs typeface="AkayaKanadaka" panose="02010502080401010103" pitchFamily="2" charset="0"/>
              </a:rPr>
              <a:t>Maintain</a:t>
            </a:r>
            <a:r>
              <a:rPr lang="zh-CN" altLang="en-US" sz="4500" b="1" i="1">
                <a:solidFill>
                  <a:srgbClr val="EB1C24"/>
                </a:solidFill>
                <a:latin typeface="AkayaKanadaka" panose="02010502080401010103" pitchFamily="2" charset="0"/>
                <a:cs typeface="AkayaKanadaka" panose="02010502080401010103" pitchFamily="2" charset="0"/>
              </a:rPr>
              <a:t> </a:t>
            </a:r>
            <a:endParaRPr lang="en-US" altLang="zh-CN" sz="4500" b="1" i="1">
              <a:solidFill>
                <a:srgbClr val="EB1C24"/>
              </a:solidFill>
              <a:latin typeface="AkayaKanadaka" panose="02010502080401010103" pitchFamily="2" charset="0"/>
              <a:cs typeface="AkayaKanadaka" panose="02010502080401010103" pitchFamily="2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4500" b="1" i="1">
                <a:solidFill>
                  <a:srgbClr val="EB1C24"/>
                </a:solidFill>
                <a:latin typeface="AkayaKanadaka" panose="02010502080401010103" pitchFamily="2" charset="0"/>
                <a:cs typeface="AkayaKanadaka" panose="02010502080401010103" pitchFamily="2" charset="0"/>
              </a:rPr>
              <a:t>Efficacy</a:t>
            </a:r>
            <a:endParaRPr lang="zh-CN" altLang="en-US" sz="4500" b="1" i="1" dirty="0">
              <a:solidFill>
                <a:srgbClr val="EB1C24"/>
              </a:solidFill>
              <a:latin typeface="AkayaKanadaka" panose="02010502080401010103" pitchFamily="2" charset="0"/>
              <a:cs typeface="AkayaKanadaka" panose="02010502080401010103" pitchFamily="2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14BCC093-72BC-884E-8F89-304661D6FE48}"/>
              </a:ext>
            </a:extLst>
          </p:cNvPr>
          <p:cNvSpPr txBox="1"/>
          <p:nvPr/>
        </p:nvSpPr>
        <p:spPr>
          <a:xfrm>
            <a:off x="27419232" y="36702160"/>
            <a:ext cx="1568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0"/>
              <a:t>🚀</a:t>
            </a:r>
            <a:endParaRPr kumimoji="1" lang="zh-CN" altLang="en-US" sz="8000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6212F06B-1BD1-D946-9955-1F1CCFDE096E}"/>
              </a:ext>
            </a:extLst>
          </p:cNvPr>
          <p:cNvSpPr txBox="1"/>
          <p:nvPr/>
        </p:nvSpPr>
        <p:spPr>
          <a:xfrm>
            <a:off x="619715" y="38992646"/>
            <a:ext cx="13910269" cy="141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10000"/>
              </a:lnSpc>
              <a:buSzPct val="60000"/>
              <a:buFont typeface="Wingdings" panose="05000000000000000000" pitchFamily="2" charset="2"/>
              <a:buChar char="l"/>
              <a:defRPr/>
            </a:pP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lang="zh-CN" altLang="en-US" sz="40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collapse</a:t>
            </a:r>
            <a:r>
              <a:rPr lang="zh-CN" altLang="en-US" sz="40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cases, inconsistent</a:t>
            </a:r>
            <a:r>
              <a:rPr lang="zh-CN" altLang="en-US" sz="40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keys lead</a:t>
            </a:r>
            <a:r>
              <a:rPr lang="zh-CN" altLang="en-US" sz="400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to </a:t>
            </a:r>
            <a:r>
              <a:rPr lang="en-US" altLang="zh-CN" sz="4000" b="1">
                <a:latin typeface="Helvetica" panose="020B0604020202020204" pitchFamily="34" charset="0"/>
                <a:cs typeface="Helvetica" panose="020B0604020202020204" pitchFamily="34" charset="0"/>
              </a:rPr>
              <a:t>excessively small denominator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n-US" altLang="zh-CN" sz="4000" b="1">
                <a:latin typeface="Helvetica" panose="020B0604020202020204" pitchFamily="34" charset="0"/>
                <a:cs typeface="Helvetica" panose="020B0604020202020204" pitchFamily="34" charset="0"/>
              </a:rPr>
              <a:t>large update matrix</a:t>
            </a:r>
            <a:r>
              <a:rPr lang="en-US" altLang="zh-CN" sz="400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等线" panose="02010600030101010101" pitchFamily="2" charset="-122"/>
              <a:cs typeface="Helvetica" panose="020B0604020202020204" pitchFamily="34" charset="0"/>
            </a:endParaRPr>
          </a:p>
        </p:txBody>
      </p:sp>
      <p:pic>
        <p:nvPicPr>
          <p:cNvPr id="86" name="图片 85">
            <a:extLst>
              <a:ext uri="{FF2B5EF4-FFF2-40B4-BE49-F238E27FC236}">
                <a16:creationId xmlns:a16="http://schemas.microsoft.com/office/drawing/2014/main" id="{84861C74-8AB2-6D41-AE33-C4D96BE08C7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5829" y="12996501"/>
            <a:ext cx="6300339" cy="5272519"/>
          </a:xfrm>
          <a:prstGeom prst="rect">
            <a:avLst/>
          </a:prstGeom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AAE4E9C1-BE79-8646-A806-7A06947A5D6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73524" y="13134224"/>
            <a:ext cx="6841447" cy="5134796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7CCBB469-3976-0C44-A980-D17BC2CB5AF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7935" y="22697373"/>
            <a:ext cx="13992385" cy="4365945"/>
          </a:xfrm>
          <a:prstGeom prst="rect">
            <a:avLst/>
          </a:prstGeom>
        </p:spPr>
      </p:pic>
      <p:pic>
        <p:nvPicPr>
          <p:cNvPr id="114" name="图片 113">
            <a:extLst>
              <a:ext uri="{FF2B5EF4-FFF2-40B4-BE49-F238E27FC236}">
                <a16:creationId xmlns:a16="http://schemas.microsoft.com/office/drawing/2014/main" id="{F665CD79-F47D-5147-B101-059147186E6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127198" y="13183561"/>
            <a:ext cx="5338540" cy="4006800"/>
          </a:xfrm>
          <a:prstGeom prst="rect">
            <a:avLst/>
          </a:prstGeom>
        </p:spPr>
      </p:pic>
      <p:sp>
        <p:nvSpPr>
          <p:cNvPr id="132" name="矩形 131">
            <a:extLst>
              <a:ext uri="{FF2B5EF4-FFF2-40B4-BE49-F238E27FC236}">
                <a16:creationId xmlns:a16="http://schemas.microsoft.com/office/drawing/2014/main" id="{EE7B66A2-E274-354C-818C-1EE6E5737270}"/>
              </a:ext>
            </a:extLst>
          </p:cNvPr>
          <p:cNvSpPr/>
          <p:nvPr/>
        </p:nvSpPr>
        <p:spPr>
          <a:xfrm>
            <a:off x="28782432" y="14846324"/>
            <a:ext cx="504247" cy="51076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6" name="图片 115">
            <a:extLst>
              <a:ext uri="{FF2B5EF4-FFF2-40B4-BE49-F238E27FC236}">
                <a16:creationId xmlns:a16="http://schemas.microsoft.com/office/drawing/2014/main" id="{18A170BA-EEB1-4A48-B22A-7FBBA9607D9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575657" y="22593495"/>
            <a:ext cx="5687108" cy="4268415"/>
          </a:xfrm>
          <a:prstGeom prst="rect">
            <a:avLst/>
          </a:prstGeom>
        </p:spPr>
      </p:pic>
      <p:pic>
        <p:nvPicPr>
          <p:cNvPr id="118" name="图片 117">
            <a:extLst>
              <a:ext uri="{FF2B5EF4-FFF2-40B4-BE49-F238E27FC236}">
                <a16:creationId xmlns:a16="http://schemas.microsoft.com/office/drawing/2014/main" id="{286EEDC2-C032-994A-B1E9-7765151C62D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936431" y="22593495"/>
            <a:ext cx="5687108" cy="4268415"/>
          </a:xfrm>
          <a:prstGeom prst="rect">
            <a:avLst/>
          </a:prstGeom>
        </p:spPr>
      </p:pic>
      <p:pic>
        <p:nvPicPr>
          <p:cNvPr id="125" name="图片 124">
            <a:extLst>
              <a:ext uri="{FF2B5EF4-FFF2-40B4-BE49-F238E27FC236}">
                <a16:creationId xmlns:a16="http://schemas.microsoft.com/office/drawing/2014/main" id="{27575BAF-3010-BD42-BED3-89FE45133C5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53588" y="32715053"/>
            <a:ext cx="4800024" cy="1536593"/>
          </a:xfrm>
          <a:prstGeom prst="rect">
            <a:avLst/>
          </a:prstGeom>
        </p:spPr>
      </p:pic>
      <p:pic>
        <p:nvPicPr>
          <p:cNvPr id="1026" name="图片 1025">
            <a:extLst>
              <a:ext uri="{FF2B5EF4-FFF2-40B4-BE49-F238E27FC236}">
                <a16:creationId xmlns:a16="http://schemas.microsoft.com/office/drawing/2014/main" id="{D8D9160F-BDA8-7E4C-ADDD-FF4E6775485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847707" y="35361683"/>
            <a:ext cx="2598894" cy="589933"/>
          </a:xfrm>
          <a:prstGeom prst="rect">
            <a:avLst/>
          </a:prstGeom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7A60FDDF-F8B0-0A4C-B704-4D419D716AF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26229" y="36859204"/>
            <a:ext cx="6144960" cy="2014741"/>
          </a:xfrm>
          <a:prstGeom prst="rect">
            <a:avLst/>
          </a:prstGeom>
        </p:spPr>
      </p:pic>
      <p:pic>
        <p:nvPicPr>
          <p:cNvPr id="1033" name="图片 1032">
            <a:extLst>
              <a:ext uri="{FF2B5EF4-FFF2-40B4-BE49-F238E27FC236}">
                <a16:creationId xmlns:a16="http://schemas.microsoft.com/office/drawing/2014/main" id="{0800AC90-114E-7641-95F2-A993C6CCFE8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899247" y="17516702"/>
            <a:ext cx="1544517" cy="604376"/>
          </a:xfrm>
          <a:prstGeom prst="rect">
            <a:avLst/>
          </a:prstGeom>
        </p:spPr>
      </p:pic>
      <p:pic>
        <p:nvPicPr>
          <p:cNvPr id="1040" name="图片 1039">
            <a:extLst>
              <a:ext uri="{FF2B5EF4-FFF2-40B4-BE49-F238E27FC236}">
                <a16:creationId xmlns:a16="http://schemas.microsoft.com/office/drawing/2014/main" id="{E35D41E9-C52B-0043-B9DC-607BBD93C43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9417093" y="19687487"/>
            <a:ext cx="411839" cy="427092"/>
          </a:xfrm>
          <a:prstGeom prst="rect">
            <a:avLst/>
          </a:prstGeom>
        </p:spPr>
      </p:pic>
      <p:pic>
        <p:nvPicPr>
          <p:cNvPr id="159" name="图片 158">
            <a:extLst>
              <a:ext uri="{FF2B5EF4-FFF2-40B4-BE49-F238E27FC236}">
                <a16:creationId xmlns:a16="http://schemas.microsoft.com/office/drawing/2014/main" id="{2AAC697E-48FA-FC41-B52D-762A059AD3B0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4046032" y="20409563"/>
            <a:ext cx="521636" cy="380653"/>
          </a:xfrm>
          <a:prstGeom prst="rect">
            <a:avLst/>
          </a:prstGeom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17899134-245B-654B-ABA4-9200995B07B4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2517891" y="20331735"/>
            <a:ext cx="343861" cy="458481"/>
          </a:xfrm>
          <a:prstGeom prst="rect">
            <a:avLst/>
          </a:prstGeom>
        </p:spPr>
      </p:pic>
      <p:pic>
        <p:nvPicPr>
          <p:cNvPr id="162" name="图片 161">
            <a:extLst>
              <a:ext uri="{FF2B5EF4-FFF2-40B4-BE49-F238E27FC236}">
                <a16:creationId xmlns:a16="http://schemas.microsoft.com/office/drawing/2014/main" id="{D65E21B0-0640-784E-90C4-38F8B917C8B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6601830" y="17628563"/>
            <a:ext cx="521636" cy="380653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42005C8F-4DD9-B64D-959E-7B2CDC8B8EFC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5795143" y="2118720"/>
            <a:ext cx="2383353" cy="238335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924A1AC-CDD6-0D49-AFCC-3B01AC200AB3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5893868" y="13297398"/>
            <a:ext cx="8152164" cy="361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9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8647</TotalTime>
  <Words>330</Words>
  <Application>Microsoft Macintosh PowerPoint</Application>
  <PresentationFormat>自定义</PresentationFormat>
  <Paragraphs>40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AkayaKanadaka</vt:lpstr>
      <vt:lpstr>Arial</vt:lpstr>
      <vt:lpstr>Calibri</vt:lpstr>
      <vt:lpstr>Calibri Light</vt:lpstr>
      <vt:lpstr>Helvetica</vt:lpstr>
      <vt:lpstr>Wingdings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Fabio C</dc:creator>
  <cp:lastModifiedBy>Microsoft Office User</cp:lastModifiedBy>
  <cp:revision>82</cp:revision>
  <dcterms:created xsi:type="dcterms:W3CDTF">2019-03-03T08:35:39Z</dcterms:created>
  <dcterms:modified xsi:type="dcterms:W3CDTF">2024-10-23T02:02:17Z</dcterms:modified>
</cp:coreProperties>
</file>