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3"/>
  </p:notesMasterIdLst>
  <p:sldIdLst>
    <p:sldId id="261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227" userDrawn="1">
          <p15:clr>
            <a:srgbClr val="A4A3A4"/>
          </p15:clr>
        </p15:guide>
        <p15:guide id="2" pos="95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0204"/>
    <a:srgbClr val="FFA012"/>
    <a:srgbClr val="F57F7B"/>
    <a:srgbClr val="A04325"/>
    <a:srgbClr val="AF0B0A"/>
    <a:srgbClr val="D30001"/>
    <a:srgbClr val="A70304"/>
    <a:srgbClr val="0255A0"/>
    <a:srgbClr val="0257A5"/>
    <a:srgbClr val="0939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07" autoAdjust="0"/>
    <p:restoredTop sz="94557" autoAdjust="0"/>
  </p:normalViewPr>
  <p:slideViewPr>
    <p:cSldViewPr snapToGrid="0" snapToObjects="1" showGuides="1">
      <p:cViewPr varScale="1">
        <p:scale>
          <a:sx n="19" d="100"/>
          <a:sy n="19" d="100"/>
        </p:scale>
        <p:origin x="3528" y="312"/>
      </p:cViewPr>
      <p:guideLst>
        <p:guide orient="horz" pos="13227"/>
        <p:guide pos="956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F9F487-D909-430B-900A-B5C19E740019}" type="datetimeFigureOut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A410E3-C217-4C03-AB6A-12547247CB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7475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986052" rtl="0" eaLnBrk="1" latinLnBrk="0" hangingPunct="1">
      <a:defRPr sz="5231" kern="1200">
        <a:solidFill>
          <a:schemeClr val="tx1"/>
        </a:solidFill>
        <a:latin typeface="+mn-lt"/>
        <a:ea typeface="+mn-ea"/>
        <a:cs typeface="+mn-cs"/>
      </a:defRPr>
    </a:lvl1pPr>
    <a:lvl2pPr marL="1993026" algn="l" defTabSz="3986052" rtl="0" eaLnBrk="1" latinLnBrk="0" hangingPunct="1">
      <a:defRPr sz="5231" kern="1200">
        <a:solidFill>
          <a:schemeClr val="tx1"/>
        </a:solidFill>
        <a:latin typeface="+mn-lt"/>
        <a:ea typeface="+mn-ea"/>
        <a:cs typeface="+mn-cs"/>
      </a:defRPr>
    </a:lvl2pPr>
    <a:lvl3pPr marL="3986052" algn="l" defTabSz="3986052" rtl="0" eaLnBrk="1" latinLnBrk="0" hangingPunct="1">
      <a:defRPr sz="5231" kern="1200">
        <a:solidFill>
          <a:schemeClr val="tx1"/>
        </a:solidFill>
        <a:latin typeface="+mn-lt"/>
        <a:ea typeface="+mn-ea"/>
        <a:cs typeface="+mn-cs"/>
      </a:defRPr>
    </a:lvl3pPr>
    <a:lvl4pPr marL="5979079" algn="l" defTabSz="3986052" rtl="0" eaLnBrk="1" latinLnBrk="0" hangingPunct="1">
      <a:defRPr sz="5231" kern="1200">
        <a:solidFill>
          <a:schemeClr val="tx1"/>
        </a:solidFill>
        <a:latin typeface="+mn-lt"/>
        <a:ea typeface="+mn-ea"/>
        <a:cs typeface="+mn-cs"/>
      </a:defRPr>
    </a:lvl4pPr>
    <a:lvl5pPr marL="7972105" algn="l" defTabSz="3986052" rtl="0" eaLnBrk="1" latinLnBrk="0" hangingPunct="1">
      <a:defRPr sz="5231" kern="1200">
        <a:solidFill>
          <a:schemeClr val="tx1"/>
        </a:solidFill>
        <a:latin typeface="+mn-lt"/>
        <a:ea typeface="+mn-ea"/>
        <a:cs typeface="+mn-cs"/>
      </a:defRPr>
    </a:lvl5pPr>
    <a:lvl6pPr marL="9965131" algn="l" defTabSz="3986052" rtl="0" eaLnBrk="1" latinLnBrk="0" hangingPunct="1">
      <a:defRPr sz="5231" kern="1200">
        <a:solidFill>
          <a:schemeClr val="tx1"/>
        </a:solidFill>
        <a:latin typeface="+mn-lt"/>
        <a:ea typeface="+mn-ea"/>
        <a:cs typeface="+mn-cs"/>
      </a:defRPr>
    </a:lvl6pPr>
    <a:lvl7pPr marL="11958157" algn="l" defTabSz="3986052" rtl="0" eaLnBrk="1" latinLnBrk="0" hangingPunct="1">
      <a:defRPr sz="5231" kern="1200">
        <a:solidFill>
          <a:schemeClr val="tx1"/>
        </a:solidFill>
        <a:latin typeface="+mn-lt"/>
        <a:ea typeface="+mn-ea"/>
        <a:cs typeface="+mn-cs"/>
      </a:defRPr>
    </a:lvl7pPr>
    <a:lvl8pPr marL="13951184" algn="l" defTabSz="3986052" rtl="0" eaLnBrk="1" latinLnBrk="0" hangingPunct="1">
      <a:defRPr sz="5231" kern="1200">
        <a:solidFill>
          <a:schemeClr val="tx1"/>
        </a:solidFill>
        <a:latin typeface="+mn-lt"/>
        <a:ea typeface="+mn-ea"/>
        <a:cs typeface="+mn-cs"/>
      </a:defRPr>
    </a:lvl8pPr>
    <a:lvl9pPr marL="15944210" algn="l" defTabSz="3986052" rtl="0" eaLnBrk="1" latinLnBrk="0" hangingPunct="1">
      <a:defRPr sz="523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5400" b="1" dirty="0">
                <a:solidFill>
                  <a:srgbClr val="0D375E"/>
                </a:solidFill>
              </a:rPr>
              <a:t>先说</a:t>
            </a:r>
            <a:r>
              <a:rPr lang="en-US" altLang="zh-CN" sz="5400" b="1" dirty="0">
                <a:solidFill>
                  <a:srgbClr val="0D375E"/>
                </a:solidFill>
              </a:rPr>
              <a:t>single edit</a:t>
            </a:r>
            <a:r>
              <a:rPr lang="zh-CN" altLang="en-US" sz="5400" b="1" dirty="0">
                <a:solidFill>
                  <a:srgbClr val="0D375E"/>
                </a:solidFill>
              </a:rPr>
              <a:t>，再说</a:t>
            </a:r>
            <a:r>
              <a:rPr lang="en-US" altLang="zh-CN" sz="5400" b="1" dirty="0">
                <a:solidFill>
                  <a:srgbClr val="0D375E"/>
                </a:solidFill>
              </a:rPr>
              <a:t>sequential edit</a:t>
            </a:r>
            <a:r>
              <a:rPr lang="zh-CN" altLang="en-US" sz="5400" b="1" dirty="0">
                <a:solidFill>
                  <a:srgbClr val="0D375E"/>
                </a:solidFill>
              </a:rPr>
              <a:t>普遍会崩溃，纯文字，深色背景，图不要放</a:t>
            </a:r>
            <a:endParaRPr lang="en-US" altLang="zh-CN" sz="5400" b="1" dirty="0">
              <a:solidFill>
                <a:srgbClr val="0D375E"/>
              </a:solidFill>
            </a:endParaRPr>
          </a:p>
          <a:p>
            <a:r>
              <a:rPr lang="en-US" altLang="zh-CN" sz="5400" b="1" dirty="0">
                <a:solidFill>
                  <a:srgbClr val="0D375E"/>
                </a:solidFill>
              </a:rPr>
              <a:t>Intro</a:t>
            </a:r>
            <a:r>
              <a:rPr lang="zh-CN" altLang="en-US" sz="5400" b="1" dirty="0">
                <a:solidFill>
                  <a:srgbClr val="0D375E"/>
                </a:solidFill>
              </a:rPr>
              <a:t>的放在</a:t>
            </a:r>
            <a:r>
              <a:rPr lang="en-US" altLang="zh-CN" sz="5400" b="1" dirty="0">
                <a:solidFill>
                  <a:srgbClr val="0D375E"/>
                </a:solidFill>
              </a:rPr>
              <a:t>pilot observation</a:t>
            </a:r>
          </a:p>
          <a:p>
            <a:r>
              <a:rPr lang="zh-CN" altLang="en-US" sz="5400" b="1" dirty="0">
                <a:solidFill>
                  <a:srgbClr val="0D375E"/>
                </a:solidFill>
              </a:rPr>
              <a:t>文字上补充</a:t>
            </a:r>
            <a:r>
              <a:rPr lang="en-US" altLang="zh-CN" sz="5400" b="1" dirty="0">
                <a:solidFill>
                  <a:srgbClr val="0D375E"/>
                </a:solidFill>
              </a:rPr>
              <a:t>ROME</a:t>
            </a:r>
            <a:r>
              <a:rPr lang="zh-CN" altLang="en-US" sz="5400" b="1" dirty="0">
                <a:solidFill>
                  <a:srgbClr val="0D375E"/>
                </a:solidFill>
              </a:rPr>
              <a:t>对其他都是崩溃的</a:t>
            </a:r>
            <a:endParaRPr lang="en-US" altLang="zh-CN" sz="5400" b="1" dirty="0">
              <a:solidFill>
                <a:srgbClr val="0D375E"/>
              </a:solidFill>
            </a:endParaRPr>
          </a:p>
          <a:p>
            <a:r>
              <a:rPr lang="zh-CN" altLang="en-US" sz="5400" b="1" dirty="0">
                <a:solidFill>
                  <a:srgbClr val="0D375E"/>
                </a:solidFill>
              </a:rPr>
              <a:t>如何检测崩溃的发生，再用</a:t>
            </a:r>
            <a:r>
              <a:rPr lang="en-US" altLang="zh-CN" sz="5400" b="1" dirty="0">
                <a:solidFill>
                  <a:srgbClr val="0D375E"/>
                </a:solidFill>
              </a:rPr>
              <a:t>ppl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A410E3-C217-4C03-AB6A-12547247CBE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8013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25/06/2025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992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25/06/2025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8674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/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75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25/06/2025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4362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25/06/2025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2034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25/06/2025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447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25/06/2025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731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25/06/2025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0440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25/06/2025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2104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25/06/2025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7971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25/06/2025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6805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25/06/2025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971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B3399-2F7C-0249-BC81-4008E155B995}" type="datetimeFigureOut">
              <a:rPr lang="en-GB" smtClean="0"/>
              <a:t>25/06/2025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8916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emf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emf"/><Relationship Id="rId12" Type="http://schemas.openxmlformats.org/officeDocument/2006/relationships/image" Target="../media/image10.emf"/><Relationship Id="rId17" Type="http://schemas.openxmlformats.org/officeDocument/2006/relationships/image" Target="../media/image15.pn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emf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11" Type="http://schemas.openxmlformats.org/officeDocument/2006/relationships/image" Target="../media/image9.sv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svg"/><Relationship Id="rId23" Type="http://schemas.openxmlformats.org/officeDocument/2006/relationships/image" Target="../media/image21.emf"/><Relationship Id="rId28" Type="http://schemas.openxmlformats.org/officeDocument/2006/relationships/image" Target="../media/image26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png"/><Relationship Id="rId22" Type="http://schemas.openxmlformats.org/officeDocument/2006/relationships/image" Target="../media/image20.emf"/><Relationship Id="rId27" Type="http://schemas.openxmlformats.org/officeDocument/2006/relationships/image" Target="../media/image2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>
            <a:extLst>
              <a:ext uri="{FF2B5EF4-FFF2-40B4-BE49-F238E27FC236}">
                <a16:creationId xmlns:a16="http://schemas.microsoft.com/office/drawing/2014/main" id="{0B7A697A-9AC3-3341-A415-A824961C3AF6}"/>
              </a:ext>
            </a:extLst>
          </p:cNvPr>
          <p:cNvSpPr/>
          <p:nvPr/>
        </p:nvSpPr>
        <p:spPr>
          <a:xfrm>
            <a:off x="24609447" y="36659434"/>
            <a:ext cx="4928032" cy="337902"/>
          </a:xfrm>
          <a:prstGeom prst="rect">
            <a:avLst/>
          </a:prstGeom>
          <a:solidFill>
            <a:srgbClr val="F57F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164B2B6B-E79E-E34D-84BA-55A73F464035}"/>
              </a:ext>
            </a:extLst>
          </p:cNvPr>
          <p:cNvSpPr/>
          <p:nvPr/>
        </p:nvSpPr>
        <p:spPr>
          <a:xfrm>
            <a:off x="24609447" y="35237836"/>
            <a:ext cx="4928032" cy="337902"/>
          </a:xfrm>
          <a:prstGeom prst="rect">
            <a:avLst/>
          </a:prstGeom>
          <a:solidFill>
            <a:srgbClr val="F57F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4077EF5-36CF-EB40-9D8A-B2080D6D1AA8}"/>
              </a:ext>
            </a:extLst>
          </p:cNvPr>
          <p:cNvSpPr/>
          <p:nvPr/>
        </p:nvSpPr>
        <p:spPr>
          <a:xfrm>
            <a:off x="5934531" y="38449946"/>
            <a:ext cx="7897354" cy="526941"/>
          </a:xfrm>
          <a:prstGeom prst="rect">
            <a:avLst/>
          </a:prstGeom>
          <a:solidFill>
            <a:srgbClr val="F57F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Abgerundetes Rechteck 21">
            <a:extLst>
              <a:ext uri="{FF2B5EF4-FFF2-40B4-BE49-F238E27FC236}">
                <a16:creationId xmlns:a16="http://schemas.microsoft.com/office/drawing/2014/main" id="{4A3C98F6-3883-5444-8D1E-DEBEF5E974D6}"/>
              </a:ext>
            </a:extLst>
          </p:cNvPr>
          <p:cNvSpPr/>
          <p:nvPr/>
        </p:nvSpPr>
        <p:spPr>
          <a:xfrm>
            <a:off x="0" y="4894406"/>
            <a:ext cx="30275213" cy="17784000"/>
          </a:xfrm>
          <a:prstGeom prst="roundRect">
            <a:avLst>
              <a:gd name="adj" fmla="val 0"/>
            </a:avLst>
          </a:prstGeom>
          <a:solidFill>
            <a:srgbClr val="AD020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14" dirty="0">
              <a:solidFill>
                <a:srgbClr val="A5CDF7"/>
              </a:solidFill>
            </a:endParaRP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1014B361-00AF-5F7D-7D26-2C9542749D74}"/>
              </a:ext>
            </a:extLst>
          </p:cNvPr>
          <p:cNvSpPr txBox="1"/>
          <p:nvPr/>
        </p:nvSpPr>
        <p:spPr>
          <a:xfrm>
            <a:off x="810995" y="5283426"/>
            <a:ext cx="28653222" cy="54632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5000" b="1" dirty="0">
                <a:solidFill>
                  <a:schemeClr val="bg1"/>
                </a:solidFill>
                <a:latin typeface="American Typewriter" panose="02090604020004020304" pitchFamily="18" charset="0"/>
                <a:ea typeface="Verdana" panose="020B0604030504040204" pitchFamily="34" charset="0"/>
                <a:cs typeface="AkayaTelivigala" pitchFamily="2" charset="0"/>
              </a:rPr>
              <a:t>Stop Using </a:t>
            </a:r>
            <a:r>
              <a:rPr lang="en-US" sz="15000" b="1" i="1" dirty="0">
                <a:solidFill>
                  <a:schemeClr val="bg1"/>
                </a:solidFill>
                <a:latin typeface="American Typewriter" panose="02090604020004020304" pitchFamily="18" charset="0"/>
                <a:ea typeface="Verdana" panose="020B0604030504040204" pitchFamily="34" charset="0"/>
                <a:cs typeface="AkayaTelivigala" pitchFamily="2" charset="0"/>
              </a:rPr>
              <a:t>Teacher Forcing </a:t>
            </a:r>
            <a:r>
              <a:rPr lang="en-US" sz="15000" b="1" dirty="0">
                <a:solidFill>
                  <a:schemeClr val="bg1"/>
                </a:solidFill>
                <a:latin typeface="American Typewriter" panose="02090604020004020304" pitchFamily="18" charset="0"/>
                <a:ea typeface="Verdana" panose="020B0604030504040204" pitchFamily="34" charset="0"/>
                <a:cs typeface="AkayaTelivigala" pitchFamily="2" charset="0"/>
              </a:rPr>
              <a:t>to Evaluate Model Editing!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7107C7E-220E-623F-410D-B548124D706D}"/>
              </a:ext>
            </a:extLst>
          </p:cNvPr>
          <p:cNvSpPr/>
          <p:nvPr/>
        </p:nvSpPr>
        <p:spPr>
          <a:xfrm>
            <a:off x="15364606" y="23075911"/>
            <a:ext cx="14530487" cy="990000"/>
          </a:xfrm>
          <a:prstGeom prst="roundRect">
            <a:avLst/>
          </a:prstGeom>
          <a:solidFill>
            <a:srgbClr val="AD0204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 Evaluate Editing in the </a:t>
            </a:r>
            <a:r>
              <a:rPr kumimoji="0" lang="en-US" altLang="zh-CN" sz="5000" b="1" i="0" u="none" strike="noStrike" kern="1200" cap="small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Wild</a:t>
            </a:r>
          </a:p>
        </p:txBody>
      </p:sp>
      <p:sp>
        <p:nvSpPr>
          <p:cNvPr id="1032" name="文本框 8">
            <a:extLst>
              <a:ext uri="{FF2B5EF4-FFF2-40B4-BE49-F238E27FC236}">
                <a16:creationId xmlns:a16="http://schemas.microsoft.com/office/drawing/2014/main" id="{A80913A7-8C66-FBF2-65EA-9DD7B82816D6}"/>
              </a:ext>
            </a:extLst>
          </p:cNvPr>
          <p:cNvSpPr txBox="1"/>
          <p:nvPr/>
        </p:nvSpPr>
        <p:spPr>
          <a:xfrm>
            <a:off x="2104921" y="187395"/>
            <a:ext cx="26065370" cy="4611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7000" b="1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The Mirage of Model Editing: Revising</a:t>
            </a:r>
            <a:r>
              <a:rPr lang="zh-CN" altLang="en-US" sz="7000" b="1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7000" b="1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Evaluation</a:t>
            </a:r>
            <a:r>
              <a:rPr lang="zh-CN" altLang="en-US" sz="7000" b="1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7000" b="1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in the </a:t>
            </a:r>
            <a:r>
              <a:rPr lang="en-US" altLang="zh-CN" sz="7000" b="1" cap="small" dirty="0">
                <a:solidFill>
                  <a:srgbClr val="C00000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Wild</a:t>
            </a:r>
          </a:p>
          <a:p>
            <a:pPr algn="ctr">
              <a:lnSpc>
                <a:spcPct val="110000"/>
              </a:lnSpc>
              <a:spcBef>
                <a:spcPts val="1200"/>
              </a:spcBef>
            </a:pPr>
            <a:r>
              <a:rPr lang="en-US" altLang="zh-CN" sz="4500" dirty="0" err="1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Wanli</a:t>
            </a:r>
            <a:r>
              <a:rPr lang="en-US" altLang="zh-CN" sz="4500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Yang, Fei Sun, Jiajun Tan, </a:t>
            </a:r>
            <a:r>
              <a:rPr lang="en-US" altLang="zh-CN" sz="4500" dirty="0" err="1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Xinyu</a:t>
            </a:r>
            <a:r>
              <a:rPr lang="en-US" altLang="zh-CN" sz="4500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Ma,</a:t>
            </a:r>
            <a:r>
              <a:rPr lang="zh-CN" altLang="en-US" sz="4500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4500" dirty="0" err="1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Qi Cao</a:t>
            </a:r>
            <a:r>
              <a:rPr lang="en-US" altLang="zh-CN" sz="4500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, </a:t>
            </a:r>
            <a:r>
              <a:rPr lang="en-US" altLang="zh-CN" sz="4500" dirty="0" err="1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Dawei</a:t>
            </a:r>
            <a:r>
              <a:rPr lang="en-US" altLang="zh-CN" sz="4500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Yin, Huawei</a:t>
            </a:r>
            <a:r>
              <a:rPr lang="zh-CN" altLang="en-US" sz="4500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4500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Shen,</a:t>
            </a:r>
            <a:r>
              <a:rPr lang="zh-CN" altLang="en-US" sz="4500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4500" dirty="0" err="1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Xueqi</a:t>
            </a:r>
            <a:r>
              <a:rPr lang="en-US" altLang="zh-CN" sz="4500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Cheng</a:t>
            </a:r>
          </a:p>
          <a:p>
            <a:pPr algn="ctr">
              <a:lnSpc>
                <a:spcPct val="125000"/>
              </a:lnSpc>
              <a:spcBef>
                <a:spcPts val="1200"/>
              </a:spcBef>
            </a:pPr>
            <a:r>
              <a:rPr lang="en-US" altLang="zh-CN" sz="4000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State Key Laboratory of AI Safety, Institute of Computing Technology, CAS</a:t>
            </a:r>
          </a:p>
          <a:p>
            <a:pPr algn="ctr">
              <a:lnSpc>
                <a:spcPct val="80000"/>
              </a:lnSpc>
              <a:spcBef>
                <a:spcPts val="1200"/>
              </a:spcBef>
            </a:pPr>
            <a:r>
              <a:rPr lang="en-US" altLang="zh-CN" sz="4000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University of Chinese Academy of Sciences</a:t>
            </a:r>
            <a:r>
              <a:rPr lang="zh-CN" altLang="en-US" sz="4000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    </a:t>
            </a:r>
            <a:r>
              <a:rPr lang="fr-FR" altLang="zh-CN" sz="4000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Baidu Inc.</a:t>
            </a:r>
          </a:p>
          <a:p>
            <a:pPr algn="ctr">
              <a:spcBef>
                <a:spcPts val="1200"/>
              </a:spcBef>
            </a:pPr>
            <a:r>
              <a:rPr lang="en-US" altLang="zh-CN" sz="4000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yangwanli24z@ict.ac.cn</a:t>
            </a:r>
            <a:r>
              <a:rPr lang="zh-CN" altLang="en-US" sz="4000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   </a:t>
            </a:r>
            <a:r>
              <a:rPr lang="en-US" altLang="zh-CN" sz="4000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sunfei@ict.ac.cn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F1DF171-2C0D-2428-9986-478A6A081C53}"/>
              </a:ext>
            </a:extLst>
          </p:cNvPr>
          <p:cNvSpPr txBox="1"/>
          <p:nvPr/>
        </p:nvSpPr>
        <p:spPr>
          <a:xfrm>
            <a:off x="16578689" y="28887096"/>
            <a:ext cx="129963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buSzPct val="60000"/>
              <a:defRPr/>
            </a:pPr>
            <a:r>
              <a:rPr lang="fr-FR" altLang="zh-CN" sz="4500" kern="2300" dirty="0">
                <a:solidFill>
                  <a:prstClr val="black"/>
                </a:solidFill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Editing success rate </a:t>
            </a:r>
            <a:r>
              <a:rPr lang="fr-FR" altLang="zh-CN" sz="4500" b="1" kern="2300" dirty="0">
                <a:solidFill>
                  <a:srgbClr val="C00000"/>
                </a:solidFill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drops sharply</a:t>
            </a:r>
            <a:r>
              <a:rPr lang="fr-FR" altLang="zh-CN" sz="4500" kern="2300" dirty="0">
                <a:solidFill>
                  <a:prstClr val="black"/>
                </a:solidFill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 from synthetic evaluation to </a:t>
            </a:r>
            <a:r>
              <a:rPr lang="fr-FR" altLang="zh-CN" sz="4500" kern="2300" cap="small" dirty="0">
                <a:solidFill>
                  <a:prstClr val="black"/>
                </a:solidFill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Wild</a:t>
            </a:r>
            <a:r>
              <a:rPr lang="fr-FR" altLang="zh-CN" sz="4500" kern="2300" dirty="0">
                <a:solidFill>
                  <a:prstClr val="black"/>
                </a:solidFill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 evaluation for all techniques!</a:t>
            </a:r>
            <a:endParaRPr lang="zh-CN" altLang="en-US" sz="4500" b="1" i="1" kern="2300" dirty="0">
              <a:latin typeface="Helvetica" panose="020B0604020202020204" pitchFamily="34" charset="0"/>
              <a:ea typeface="等线" panose="02010600030101010101" pitchFamily="2" charset="-122"/>
              <a:cs typeface="Helvetica" panose="020B0604020202020204" pitchFamily="34" charset="0"/>
            </a:endParaRPr>
          </a:p>
        </p:txBody>
      </p:sp>
      <p:pic>
        <p:nvPicPr>
          <p:cNvPr id="60" name="图形 59">
            <a:extLst>
              <a:ext uri="{FF2B5EF4-FFF2-40B4-BE49-F238E27FC236}">
                <a16:creationId xmlns:a16="http://schemas.microsoft.com/office/drawing/2014/main" id="{2DA64752-6760-CE49-8894-4FB899E174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778592" y="29264825"/>
            <a:ext cx="720000" cy="720000"/>
          </a:xfrm>
          <a:prstGeom prst="rect">
            <a:avLst/>
          </a:prstGeom>
        </p:spPr>
      </p:pic>
      <p:sp>
        <p:nvSpPr>
          <p:cNvPr id="75" name="文本框 74">
            <a:extLst>
              <a:ext uri="{FF2B5EF4-FFF2-40B4-BE49-F238E27FC236}">
                <a16:creationId xmlns:a16="http://schemas.microsoft.com/office/drawing/2014/main" id="{B9722483-4675-B24D-B0AA-704B10A5E2C0}"/>
              </a:ext>
            </a:extLst>
          </p:cNvPr>
          <p:cNvSpPr txBox="1"/>
          <p:nvPr/>
        </p:nvSpPr>
        <p:spPr>
          <a:xfrm>
            <a:off x="547523" y="28553064"/>
            <a:ext cx="1397421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SzPct val="60000"/>
              <a:buFont typeface="Wingdings" panose="05000000000000000000" pitchFamily="2" charset="2"/>
              <a:buChar char="l"/>
            </a:pP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Previous </a:t>
            </a:r>
            <a:r>
              <a:rPr lang="en-US" altLang="zh-CN" sz="4000" b="1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synthetic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 evaluation relies on oversimplified and unrealistic settings, most notably </a:t>
            </a:r>
            <a:r>
              <a:rPr lang="en-US" altLang="zh-CN" sz="4000" b="1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teacher forcing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, which </a:t>
            </a:r>
            <a:r>
              <a:rPr lang="en-US" altLang="zh-CN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leaks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 both the </a:t>
            </a:r>
            <a:r>
              <a:rPr lang="en-US" altLang="zh-CN" sz="4000" b="1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content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n-US" altLang="zh-CN" sz="4000" b="1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length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 of </a:t>
            </a:r>
            <a:r>
              <a:rPr lang="en-US" altLang="zh-CN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ground truth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9B5F9B68-F31D-7A47-9E8A-252303B136FD}"/>
              </a:ext>
            </a:extLst>
          </p:cNvPr>
          <p:cNvSpPr txBox="1"/>
          <p:nvPr/>
        </p:nvSpPr>
        <p:spPr>
          <a:xfrm>
            <a:off x="547523" y="30684821"/>
            <a:ext cx="142774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SzPct val="60000"/>
              <a:buFont typeface="Wingdings" panose="05000000000000000000" pitchFamily="2" charset="2"/>
              <a:buChar char="l"/>
            </a:pP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We propose</a:t>
            </a:r>
            <a:r>
              <a:rPr lang="zh-CN" altLang="en-US" sz="4000" b="1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4000" b="1" cap="small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Wild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n-US" altLang="zh-CN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W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ithout </a:t>
            </a:r>
            <a:r>
              <a:rPr lang="en-US" altLang="zh-CN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ntervention, </a:t>
            </a:r>
            <a:r>
              <a:rPr lang="en-US" altLang="zh-CN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L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ive </a:t>
            </a:r>
            <a:r>
              <a:rPr lang="en-US" altLang="zh-CN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D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ecoding)</a:t>
            </a:r>
            <a:r>
              <a:rPr lang="zh-CN" altLang="en-US" sz="4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to </a:t>
            </a:r>
            <a:r>
              <a:rPr lang="zh-CN" altLang="en-US" sz="4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align</a:t>
            </a:r>
            <a:r>
              <a:rPr lang="zh-CN" altLang="en-US" sz="4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with real-world</a:t>
            </a:r>
            <a:r>
              <a:rPr lang="zh-CN" altLang="en-US" sz="4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inference conditions.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95DFD28A-98BC-CF41-BCF0-4021516CE804}"/>
              </a:ext>
            </a:extLst>
          </p:cNvPr>
          <p:cNvSpPr txBox="1"/>
          <p:nvPr/>
        </p:nvSpPr>
        <p:spPr>
          <a:xfrm>
            <a:off x="-3017520" y="41376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pic>
        <p:nvPicPr>
          <p:cNvPr id="58" name="图片 57">
            <a:extLst>
              <a:ext uri="{FF2B5EF4-FFF2-40B4-BE49-F238E27FC236}">
                <a16:creationId xmlns:a16="http://schemas.microsoft.com/office/drawing/2014/main" id="{5B9CE01C-DE21-5946-812E-4E3E6E9D19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98856" y="2357761"/>
            <a:ext cx="6696236" cy="2283231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8EF805C-1142-8649-BEAE-ECED9DB43C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141" y="11250666"/>
            <a:ext cx="29497951" cy="10672293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9" name="矩形: 圆角 13">
            <a:extLst>
              <a:ext uri="{FF2B5EF4-FFF2-40B4-BE49-F238E27FC236}">
                <a16:creationId xmlns:a16="http://schemas.microsoft.com/office/drawing/2014/main" id="{EF46FED4-A7C6-C049-9256-403F03350A30}"/>
              </a:ext>
            </a:extLst>
          </p:cNvPr>
          <p:cNvSpPr/>
          <p:nvPr/>
        </p:nvSpPr>
        <p:spPr>
          <a:xfrm>
            <a:off x="380120" y="23073067"/>
            <a:ext cx="14309021" cy="990000"/>
          </a:xfrm>
          <a:prstGeom prst="roundRect">
            <a:avLst/>
          </a:prstGeom>
          <a:solidFill>
            <a:srgbClr val="AD0204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Comparison of Two Evaluations</a:t>
            </a:r>
          </a:p>
        </p:txBody>
      </p:sp>
      <p:sp>
        <p:nvSpPr>
          <p:cNvPr id="51" name="矩形: 圆角 13">
            <a:extLst>
              <a:ext uri="{FF2B5EF4-FFF2-40B4-BE49-F238E27FC236}">
                <a16:creationId xmlns:a16="http://schemas.microsoft.com/office/drawing/2014/main" id="{526CCA18-AA92-164C-B467-41D27B61D2C7}"/>
              </a:ext>
            </a:extLst>
          </p:cNvPr>
          <p:cNvSpPr/>
          <p:nvPr/>
        </p:nvSpPr>
        <p:spPr>
          <a:xfrm>
            <a:off x="397141" y="32517195"/>
            <a:ext cx="14292000" cy="990000"/>
          </a:xfrm>
          <a:prstGeom prst="roundRect">
            <a:avLst/>
          </a:prstGeom>
          <a:solidFill>
            <a:srgbClr val="AD0204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Teacher Forcing Generation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6429DB18-BD56-C349-BFC4-1F01F9EA2E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1448" y="24414337"/>
            <a:ext cx="13379383" cy="3899820"/>
          </a:xfrm>
          <a:prstGeom prst="rect">
            <a:avLst/>
          </a:prstGeom>
        </p:spPr>
      </p:pic>
      <p:sp>
        <p:nvSpPr>
          <p:cNvPr id="57" name="文本框 56">
            <a:extLst>
              <a:ext uri="{FF2B5EF4-FFF2-40B4-BE49-F238E27FC236}">
                <a16:creationId xmlns:a16="http://schemas.microsoft.com/office/drawing/2014/main" id="{C3D07A30-C458-DE46-AAC3-AB492FCDAACC}"/>
              </a:ext>
            </a:extLst>
          </p:cNvPr>
          <p:cNvSpPr txBox="1"/>
          <p:nvPr/>
        </p:nvSpPr>
        <p:spPr>
          <a:xfrm>
            <a:off x="16616264" y="30582599"/>
            <a:ext cx="129212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zh-CN" sz="4500">
                <a:latin typeface="Helvetica" pitchFamily="2" charset="0"/>
                <a:cs typeface="AkayaKanadaka" panose="02010502080401010103" pitchFamily="2" charset="0"/>
              </a:rPr>
              <a:t>Which modules in synthetic evaluation </a:t>
            </a:r>
            <a:r>
              <a:rPr lang="fr-FR" altLang="zh-CN" sz="4500" b="1">
                <a:solidFill>
                  <a:srgbClr val="C00000"/>
                </a:solidFill>
                <a:latin typeface="Helvetica" pitchFamily="2" charset="0"/>
                <a:cs typeface="AkayaKanadaka" panose="02010502080401010103" pitchFamily="2" charset="0"/>
              </a:rPr>
              <a:t>contribute most</a:t>
            </a:r>
            <a:r>
              <a:rPr lang="fr-FR" altLang="zh-CN" sz="4500">
                <a:latin typeface="Helvetica" pitchFamily="2" charset="0"/>
                <a:cs typeface="AkayaKanadaka" panose="02010502080401010103" pitchFamily="2" charset="0"/>
              </a:rPr>
              <a:t> to performance </a:t>
            </a:r>
            <a:r>
              <a:rPr lang="fr-FR" altLang="zh-CN" sz="4500" b="1" i="1">
                <a:latin typeface="Helvetica" pitchFamily="2" charset="0"/>
                <a:cs typeface="AkayaKanadaka" panose="02010502080401010103" pitchFamily="2" charset="0"/>
              </a:rPr>
              <a:t>overestimation</a:t>
            </a:r>
            <a:r>
              <a:rPr lang="fr-FR" altLang="zh-CN" sz="4500">
                <a:latin typeface="Helvetica" pitchFamily="2" charset="0"/>
                <a:cs typeface="AkayaKanadaka" panose="02010502080401010103" pitchFamily="2" charset="0"/>
              </a:rPr>
              <a:t>?</a:t>
            </a:r>
          </a:p>
        </p:txBody>
      </p:sp>
      <p:pic>
        <p:nvPicPr>
          <p:cNvPr id="61" name="图形 60">
            <a:extLst>
              <a:ext uri="{FF2B5EF4-FFF2-40B4-BE49-F238E27FC236}">
                <a16:creationId xmlns:a16="http://schemas.microsoft.com/office/drawing/2014/main" id="{62BA140A-160B-9B4B-ACC5-D0D6DECC46C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778592" y="30961263"/>
            <a:ext cx="720000" cy="720000"/>
          </a:xfrm>
          <a:prstGeom prst="rect">
            <a:avLst/>
          </a:prstGeom>
        </p:spPr>
      </p:pic>
      <p:sp>
        <p:nvSpPr>
          <p:cNvPr id="63" name="文本框 62">
            <a:extLst>
              <a:ext uri="{FF2B5EF4-FFF2-40B4-BE49-F238E27FC236}">
                <a16:creationId xmlns:a16="http://schemas.microsoft.com/office/drawing/2014/main" id="{B008EAB1-6FF3-AE47-A38C-FC58B27D43DF}"/>
              </a:ext>
            </a:extLst>
          </p:cNvPr>
          <p:cNvSpPr txBox="1"/>
          <p:nvPr/>
        </p:nvSpPr>
        <p:spPr>
          <a:xfrm>
            <a:off x="15753481" y="39219634"/>
            <a:ext cx="6121991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457200">
              <a:buSzPct val="60000"/>
              <a:defRPr/>
            </a:pPr>
            <a:r>
              <a:rPr lang="en-US" altLang="zh-CN" sz="3800" kern="2300" dirty="0">
                <a:solidFill>
                  <a:prstClr val="black"/>
                </a:solidFill>
                <a:latin typeface="Arial Rounded MT Bold" panose="020F070403050403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Model</a:t>
            </a:r>
            <a:r>
              <a:rPr lang="zh-CN" altLang="en-US" sz="3800" kern="2300" dirty="0">
                <a:solidFill>
                  <a:prstClr val="black"/>
                </a:solidFill>
                <a:latin typeface="Arial Rounded MT Bold" panose="020F070403050403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 </a:t>
            </a:r>
            <a:r>
              <a:rPr lang="en-US" altLang="zh-CN" sz="3800" kern="2300" dirty="0">
                <a:solidFill>
                  <a:prstClr val="black"/>
                </a:solidFill>
                <a:latin typeface="Arial Rounded MT Bold" panose="020F070403050403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editing</a:t>
            </a:r>
            <a:r>
              <a:rPr lang="zh-CN" altLang="en-US" sz="3800" kern="2300" dirty="0">
                <a:solidFill>
                  <a:prstClr val="black"/>
                </a:solidFill>
                <a:latin typeface="Arial Rounded MT Bold" panose="020F070403050403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 </a:t>
            </a:r>
            <a:r>
              <a:rPr lang="en-US" altLang="zh-CN" sz="3800" kern="2300" dirty="0">
                <a:solidFill>
                  <a:prstClr val="black"/>
                </a:solidFill>
                <a:latin typeface="Arial Rounded MT Bold" panose="020F070403050403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should</a:t>
            </a:r>
            <a:r>
              <a:rPr lang="zh-CN" altLang="en-US" sz="3800" kern="2300" dirty="0">
                <a:solidFill>
                  <a:prstClr val="black"/>
                </a:solidFill>
                <a:latin typeface="Arial Rounded MT Bold" panose="020F070403050403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 </a:t>
            </a:r>
            <a:r>
              <a:rPr lang="en-US" altLang="zh-CN" sz="3800" kern="2300" dirty="0">
                <a:solidFill>
                  <a:prstClr val="black"/>
                </a:solidFill>
                <a:latin typeface="Arial Rounded MT Bold" panose="020F070403050403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be made more than just a few tokens deep!</a:t>
            </a:r>
            <a:endParaRPr lang="zh-CN" altLang="en-US" sz="3800" b="1" i="1" kern="2300" dirty="0">
              <a:latin typeface="Arial Rounded MT Bold" panose="020F0704030504030204" pitchFamily="34" charset="0"/>
              <a:ea typeface="等线" panose="02010600030101010101" pitchFamily="2" charset="-122"/>
              <a:cs typeface="Helvetica" panose="020B0604020202020204" pitchFamily="34" charset="0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B5054637-4BA7-6940-80F5-C572FF05405A}"/>
              </a:ext>
            </a:extLst>
          </p:cNvPr>
          <p:cNvSpPr txBox="1"/>
          <p:nvPr/>
        </p:nvSpPr>
        <p:spPr>
          <a:xfrm>
            <a:off x="15753481" y="35116235"/>
            <a:ext cx="6121991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457200">
              <a:buSzPct val="60000"/>
              <a:defRPr/>
            </a:pPr>
            <a:r>
              <a:rPr lang="en-US" altLang="zh-CN" sz="3800" kern="2300" dirty="0">
                <a:solidFill>
                  <a:prstClr val="black"/>
                </a:solidFill>
                <a:latin typeface="Arial Rounded MT Bold" panose="020F0704030504030204" pitchFamily="34" charset="0"/>
                <a:ea typeface="等线" panose="02010600030101010101" pitchFamily="2" charset="-122"/>
                <a:cs typeface="AkayaTelivigala" pitchFamily="2" charset="0"/>
              </a:rPr>
              <a:t>Irrational truncation</a:t>
            </a:r>
            <a:r>
              <a:rPr lang="zh-CN" altLang="en-US" sz="3800" kern="2300" dirty="0">
                <a:solidFill>
                  <a:prstClr val="black"/>
                </a:solidFill>
                <a:latin typeface="Arial Rounded MT Bold" panose="020F0704030504030204" pitchFamily="34" charset="0"/>
                <a:ea typeface="等线" panose="02010600030101010101" pitchFamily="2" charset="-122"/>
                <a:cs typeface="AkayaTelivigala" pitchFamily="2" charset="0"/>
              </a:rPr>
              <a:t> </a:t>
            </a:r>
            <a:r>
              <a:rPr lang="en-US" altLang="zh-CN" sz="3800" b="1" kern="2300" dirty="0">
                <a:solidFill>
                  <a:srgbClr val="C00000"/>
                </a:solidFill>
                <a:latin typeface="Arial Rounded MT Bold" panose="020F0704030504030204" pitchFamily="34" charset="0"/>
                <a:ea typeface="等线" panose="02010600030101010101" pitchFamily="2" charset="-122"/>
                <a:cs typeface="AkayaTelivigala" pitchFamily="2" charset="0"/>
              </a:rPr>
              <a:t>mas-ks subsequent errors</a:t>
            </a:r>
            <a:r>
              <a:rPr lang="en-US" altLang="zh-CN" sz="3800" kern="2300" dirty="0">
                <a:solidFill>
                  <a:prstClr val="black"/>
                </a:solidFill>
                <a:latin typeface="Arial Rounded MT Bold" panose="020F0704030504030204" pitchFamily="34" charset="0"/>
                <a:ea typeface="等线" panose="02010600030101010101" pitchFamily="2" charset="-122"/>
                <a:cs typeface="AkayaTelivigala" pitchFamily="2" charset="0"/>
              </a:rPr>
              <a:t> in real-world generation.</a:t>
            </a:r>
            <a:endParaRPr lang="zh-CN" altLang="en-US" sz="3800" b="1" i="1" kern="2300" dirty="0">
              <a:latin typeface="Arial Rounded MT Bold" panose="020F0704030504030204" pitchFamily="34" charset="0"/>
              <a:ea typeface="等线" panose="02010600030101010101" pitchFamily="2" charset="-122"/>
              <a:cs typeface="AkayaTelivigala" pitchFamily="2" charset="0"/>
            </a:endParaRPr>
          </a:p>
        </p:txBody>
      </p:sp>
      <p:pic>
        <p:nvPicPr>
          <p:cNvPr id="70" name="图形 69">
            <a:extLst>
              <a:ext uri="{FF2B5EF4-FFF2-40B4-BE49-F238E27FC236}">
                <a16:creationId xmlns:a16="http://schemas.microsoft.com/office/drawing/2014/main" id="{6190F7DD-BE5C-3147-85D1-1A39FC9A723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679990" y="37219833"/>
            <a:ext cx="2268975" cy="1964383"/>
          </a:xfrm>
          <a:prstGeom prst="rect">
            <a:avLst/>
          </a:prstGeom>
        </p:spPr>
      </p:pic>
      <p:sp>
        <p:nvSpPr>
          <p:cNvPr id="71" name="矩形: 圆角 13">
            <a:extLst>
              <a:ext uri="{FF2B5EF4-FFF2-40B4-BE49-F238E27FC236}">
                <a16:creationId xmlns:a16="http://schemas.microsoft.com/office/drawing/2014/main" id="{7F509A97-CEF6-0F43-B7DA-B8F6392B5D9D}"/>
              </a:ext>
            </a:extLst>
          </p:cNvPr>
          <p:cNvSpPr/>
          <p:nvPr/>
        </p:nvSpPr>
        <p:spPr>
          <a:xfrm>
            <a:off x="15364606" y="32517195"/>
            <a:ext cx="14530487" cy="990000"/>
          </a:xfrm>
          <a:prstGeom prst="roundRect">
            <a:avLst/>
          </a:prstGeom>
          <a:solidFill>
            <a:srgbClr val="AD0204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Ground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 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Truth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 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Length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 </a:t>
            </a:r>
            <a:r>
              <a:rPr lang="en-US" altLang="zh-CN" sz="5000" b="1" dirty="0">
                <a:solidFill>
                  <a:schemeClr val="bg1"/>
                </a:solidFill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Truncation</a:t>
            </a:r>
            <a:endParaRPr kumimoji="0" lang="en-US" altLang="zh-CN" sz="5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" panose="020B0604020202020204" pitchFamily="34" charset="0"/>
              <a:ea typeface="等线" panose="02010600030101010101" pitchFamily="2" charset="-122"/>
              <a:cs typeface="Helvetica" panose="020B0604020202020204" pitchFamily="34" charset="0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E0D241B9-980C-C949-A6CB-AF23E246844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088944" y="33635977"/>
            <a:ext cx="7560000" cy="3541621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290DE35D-08AD-454F-B74E-309FD5F586A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088944" y="37417816"/>
            <a:ext cx="7560000" cy="5176216"/>
          </a:xfrm>
          <a:prstGeom prst="rect">
            <a:avLst/>
          </a:prstGeom>
        </p:spPr>
      </p:pic>
      <p:sp>
        <p:nvSpPr>
          <p:cNvPr id="78" name="文本框 77">
            <a:extLst>
              <a:ext uri="{FF2B5EF4-FFF2-40B4-BE49-F238E27FC236}">
                <a16:creationId xmlns:a16="http://schemas.microsoft.com/office/drawing/2014/main" id="{FCF9A954-D683-5B48-9743-D05EB9964B2A}"/>
              </a:ext>
            </a:extLst>
          </p:cNvPr>
          <p:cNvSpPr txBox="1"/>
          <p:nvPr/>
        </p:nvSpPr>
        <p:spPr>
          <a:xfrm>
            <a:off x="547522" y="39440845"/>
            <a:ext cx="1397421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SzPct val="60000"/>
              <a:buFont typeface="Wingdings" panose="05000000000000000000" pitchFamily="2" charset="2"/>
              <a:buChar char="l"/>
            </a:pPr>
            <a:r>
              <a:rPr lang="en-US" altLang="zh-CN" sz="4000" kern="2300" dirty="0">
                <a:solidFill>
                  <a:prstClr val="black"/>
                </a:solidFill>
                <a:latin typeface="Helvetica" pitchFamily="2" charset="0"/>
                <a:ea typeface="等线" panose="02010600030101010101" pitchFamily="2" charset="-122"/>
                <a:cs typeface="Helvetica" panose="020B0604020202020204" pitchFamily="34" charset="0"/>
              </a:rPr>
              <a:t>Switching from teacher</a:t>
            </a:r>
            <a:r>
              <a:rPr lang="zh-CN" altLang="en-US" sz="4000" kern="2300" dirty="0">
                <a:solidFill>
                  <a:prstClr val="black"/>
                </a:solidFill>
                <a:latin typeface="Helvetica" pitchFamily="2" charset="0"/>
                <a:ea typeface="等线" panose="02010600030101010101" pitchFamily="2" charset="-122"/>
                <a:cs typeface="Helvetica" panose="020B0604020202020204" pitchFamily="34" charset="0"/>
              </a:rPr>
              <a:t> </a:t>
            </a:r>
            <a:r>
              <a:rPr lang="en-US" altLang="zh-CN" sz="4000" kern="2300" dirty="0">
                <a:solidFill>
                  <a:prstClr val="black"/>
                </a:solidFill>
                <a:latin typeface="Helvetica" pitchFamily="2" charset="0"/>
                <a:ea typeface="等线" panose="02010600030101010101" pitchFamily="2" charset="-122"/>
                <a:cs typeface="Helvetica" panose="020B0604020202020204" pitchFamily="34" charset="0"/>
              </a:rPr>
              <a:t>forcing to autoregressive decoding </a:t>
            </a:r>
            <a:r>
              <a:rPr lang="en-US" altLang="zh-CN" sz="4000" b="1" kern="2300" dirty="0">
                <a:solidFill>
                  <a:srgbClr val="C00000"/>
                </a:solidFill>
                <a:latin typeface="Helvetica" pitchFamily="2" charset="0"/>
                <a:ea typeface="等线" panose="02010600030101010101" pitchFamily="2" charset="-122"/>
                <a:cs typeface="Helvetica" panose="020B0604020202020204" pitchFamily="34" charset="0"/>
              </a:rPr>
              <a:t>consistently</a:t>
            </a:r>
            <a:r>
              <a:rPr lang="zh-CN" altLang="en-US" sz="4000" b="1" kern="2300" dirty="0">
                <a:solidFill>
                  <a:srgbClr val="C00000"/>
                </a:solidFill>
                <a:latin typeface="Helvetica" pitchFamily="2" charset="0"/>
                <a:ea typeface="等线" panose="02010600030101010101" pitchFamily="2" charset="-122"/>
                <a:cs typeface="Helvetica" panose="020B0604020202020204" pitchFamily="34" charset="0"/>
              </a:rPr>
              <a:t> </a:t>
            </a:r>
            <a:r>
              <a:rPr lang="en-US" altLang="zh-CN" sz="4000" b="1" kern="2300" dirty="0">
                <a:solidFill>
                  <a:srgbClr val="C00000"/>
                </a:solidFill>
                <a:latin typeface="Helvetica" pitchFamily="2" charset="0"/>
                <a:ea typeface="等线" panose="02010600030101010101" pitchFamily="2" charset="-122"/>
                <a:cs typeface="Helvetica" panose="020B0604020202020204" pitchFamily="34" charset="0"/>
              </a:rPr>
              <a:t>leads to performance degradation</a:t>
            </a:r>
            <a:r>
              <a:rPr lang="en-US" altLang="zh-CN" sz="4000" kern="2300" dirty="0">
                <a:solidFill>
                  <a:prstClr val="black"/>
                </a:solidFill>
                <a:latin typeface="Helvetica" pitchFamily="2" charset="0"/>
                <a:ea typeface="等线" panose="02010600030101010101" pitchFamily="2" charset="-122"/>
                <a:cs typeface="Helvetica" panose="020B0604020202020204" pitchFamily="34" charset="0"/>
              </a:rPr>
              <a:t>!</a:t>
            </a:r>
          </a:p>
          <a:p>
            <a:pPr marL="571500" indent="-571500">
              <a:buSzPct val="60000"/>
              <a:buFont typeface="Wingdings" panose="05000000000000000000" pitchFamily="2" charset="2"/>
              <a:buChar char="l"/>
            </a:pP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Underlying reason is that teacher forcing prevents error propagation by </a:t>
            </a:r>
            <a:r>
              <a:rPr lang="en-US" altLang="zh-CN" sz="4000" b="1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feeding ground truth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 tokens as input.</a:t>
            </a:r>
          </a:p>
        </p:txBody>
      </p:sp>
      <p:pic>
        <p:nvPicPr>
          <p:cNvPr id="33" name="图形 32">
            <a:extLst>
              <a:ext uri="{FF2B5EF4-FFF2-40B4-BE49-F238E27FC236}">
                <a16:creationId xmlns:a16="http://schemas.microsoft.com/office/drawing/2014/main" id="{45485A0C-A6A4-484F-96D8-2B8C2211D4D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08888" y="1648300"/>
            <a:ext cx="1368000" cy="13680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D2B6A8DD-E25F-734B-852B-F4B946622DF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131667" y="24361138"/>
            <a:ext cx="12996364" cy="443316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939AE44-63B7-1A4B-A3B9-C026815AAC8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866757" y="3500957"/>
            <a:ext cx="1260000" cy="12600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A0C28DE4-009E-CB4A-85B5-57BC94315F2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77945" y="1648300"/>
            <a:ext cx="1368000" cy="1368000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FABDF98B-E913-DB48-8210-D45A36615BB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92347" y="3016300"/>
            <a:ext cx="801082" cy="360000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A57D7C93-F6B1-8744-895F-A9093CCE6DC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036888" y="3016565"/>
            <a:ext cx="360000" cy="36000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A7819C4D-B842-174D-B697-63E8CC0268E1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413896" y="3012200"/>
            <a:ext cx="878049" cy="360000"/>
          </a:xfrm>
          <a:prstGeom prst="rect">
            <a:avLst/>
          </a:prstGeom>
        </p:spPr>
      </p:pic>
      <p:pic>
        <p:nvPicPr>
          <p:cNvPr id="50" name="图片 49">
            <a:extLst>
              <a:ext uri="{FF2B5EF4-FFF2-40B4-BE49-F238E27FC236}">
                <a16:creationId xmlns:a16="http://schemas.microsoft.com/office/drawing/2014/main" id="{2967A224-0AD9-5443-8EC9-08684981591D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80820" y="33699759"/>
            <a:ext cx="12907613" cy="5548522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A3244233-9B5C-0A4C-94A8-D8B23566A647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436844" y="4106887"/>
            <a:ext cx="609150" cy="435107"/>
          </a:xfrm>
          <a:prstGeom prst="rect">
            <a:avLst/>
          </a:prstGeom>
        </p:spPr>
      </p:pic>
      <p:pic>
        <p:nvPicPr>
          <p:cNvPr id="1030" name="图形 14">
            <a:extLst>
              <a:ext uri="{FF2B5EF4-FFF2-40B4-BE49-F238E27FC236}">
                <a16:creationId xmlns:a16="http://schemas.microsoft.com/office/drawing/2014/main" id="{2F7338E4-A7E9-498D-0331-B73F27691BC9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62888" y="3500957"/>
            <a:ext cx="1260000" cy="1260000"/>
          </a:xfrm>
          <a:prstGeom prst="rect">
            <a:avLst/>
          </a:prstGeom>
        </p:spPr>
      </p:pic>
      <p:pic>
        <p:nvPicPr>
          <p:cNvPr id="11" name="图形 10">
            <a:extLst>
              <a:ext uri="{FF2B5EF4-FFF2-40B4-BE49-F238E27FC236}">
                <a16:creationId xmlns:a16="http://schemas.microsoft.com/office/drawing/2014/main" id="{6749F072-279A-E649-9B94-AB6F96B946B0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5608790" y="3497124"/>
            <a:ext cx="1086624" cy="1260000"/>
          </a:xfrm>
          <a:prstGeom prst="rect">
            <a:avLst/>
          </a:prstGeom>
        </p:spPr>
      </p:pic>
      <p:pic>
        <p:nvPicPr>
          <p:cNvPr id="55" name="图片 10">
            <a:extLst>
              <a:ext uri="{FF2B5EF4-FFF2-40B4-BE49-F238E27FC236}">
                <a16:creationId xmlns:a16="http://schemas.microsoft.com/office/drawing/2014/main" id="{371EAB5C-221F-E041-8B52-97928D8606A9}"/>
              </a:ext>
            </a:extLst>
          </p:cNvPr>
          <p:cNvPicPr>
            <a:picLocks noChangeAspect="1"/>
          </p:cNvPicPr>
          <p:nvPr/>
        </p:nvPicPr>
        <p:blipFill rotWithShape="1">
          <a:blip r:embed="rId28"/>
          <a:srcRect l="6025" t="19353" r="9220" b="9799"/>
          <a:stretch/>
        </p:blipFill>
        <p:spPr>
          <a:xfrm>
            <a:off x="1977945" y="3500957"/>
            <a:ext cx="1533755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827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8961</TotalTime>
  <Words>264</Words>
  <Application>Microsoft Macintosh PowerPoint</Application>
  <PresentationFormat>自定义</PresentationFormat>
  <Paragraphs>23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等线</vt:lpstr>
      <vt:lpstr>American Typewriter</vt:lpstr>
      <vt:lpstr>Arial</vt:lpstr>
      <vt:lpstr>Arial Rounded MT Bold</vt:lpstr>
      <vt:lpstr>Calibri</vt:lpstr>
      <vt:lpstr>Calibri Light</vt:lpstr>
      <vt:lpstr>Helvetica</vt:lpstr>
      <vt:lpstr>Wingdings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Fabio C</dc:creator>
  <cp:lastModifiedBy>Microsoft Office User</cp:lastModifiedBy>
  <cp:revision>73</cp:revision>
  <dcterms:created xsi:type="dcterms:W3CDTF">2019-03-03T08:35:39Z</dcterms:created>
  <dcterms:modified xsi:type="dcterms:W3CDTF">2025-06-25T12:02:45Z</dcterms:modified>
</cp:coreProperties>
</file>