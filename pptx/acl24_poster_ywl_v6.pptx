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7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27" userDrawn="1">
          <p15:clr>
            <a:srgbClr val="A4A3A4"/>
          </p15:clr>
        </p15:guide>
        <p15:guide id="2" pos="95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00"/>
    <a:srgbClr val="FF7E79"/>
    <a:srgbClr val="EB1C24"/>
    <a:srgbClr val="17365E"/>
    <a:srgbClr val="97B8DA"/>
    <a:srgbClr val="D2E7F2"/>
    <a:srgbClr val="FF2600"/>
    <a:srgbClr val="FFFFFF"/>
    <a:srgbClr val="F3F3F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86" autoAdjust="0"/>
    <p:restoredTop sz="94557" autoAdjust="0"/>
  </p:normalViewPr>
  <p:slideViewPr>
    <p:cSldViewPr snapToGrid="0" snapToObjects="1" showGuides="1">
      <p:cViewPr varScale="1">
        <p:scale>
          <a:sx n="12" d="100"/>
          <a:sy n="12" d="100"/>
        </p:scale>
        <p:origin x="1653" y="93"/>
      </p:cViewPr>
      <p:guideLst>
        <p:guide orient="horz" pos="13227"/>
        <p:guide pos="9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9F487-D909-430B-900A-B5C19E740019}" type="datetimeFigureOut">
              <a:rPr lang="zh-CN" altLang="en-US" smtClean="0"/>
              <a:t>2024/7/22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410E3-C217-4C03-AB6A-12547247CB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7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1pPr>
    <a:lvl2pPr marL="1993026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2pPr>
    <a:lvl3pPr marL="3986052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3pPr>
    <a:lvl4pPr marL="5979079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4pPr>
    <a:lvl5pPr marL="7972105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5pPr>
    <a:lvl6pPr marL="9965131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6pPr>
    <a:lvl7pPr marL="11958157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7pPr>
    <a:lvl8pPr marL="13951184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8pPr>
    <a:lvl9pPr marL="15944210" algn="l" defTabSz="3986052" rtl="0" eaLnBrk="1" latinLnBrk="0" hangingPunct="1">
      <a:defRPr sz="52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5400" b="1" dirty="0">
                <a:solidFill>
                  <a:srgbClr val="0D375E"/>
                </a:solidFill>
              </a:rPr>
              <a:t>先说</a:t>
            </a:r>
            <a:r>
              <a:rPr lang="en-US" altLang="zh-CN" sz="5400" b="1" dirty="0">
                <a:solidFill>
                  <a:srgbClr val="0D375E"/>
                </a:solidFill>
              </a:rPr>
              <a:t>single edit</a:t>
            </a:r>
            <a:r>
              <a:rPr lang="zh-CN" altLang="en-US" sz="5400" b="1" dirty="0">
                <a:solidFill>
                  <a:srgbClr val="0D375E"/>
                </a:solidFill>
              </a:rPr>
              <a:t>，再说</a:t>
            </a:r>
            <a:r>
              <a:rPr lang="en-US" altLang="zh-CN" sz="5400" b="1" dirty="0">
                <a:solidFill>
                  <a:srgbClr val="0D375E"/>
                </a:solidFill>
              </a:rPr>
              <a:t>sequential edit</a:t>
            </a:r>
            <a:r>
              <a:rPr lang="zh-CN" altLang="en-US" sz="5400" b="1" dirty="0">
                <a:solidFill>
                  <a:srgbClr val="0D375E"/>
                </a:solidFill>
              </a:rPr>
              <a:t>普遍会崩溃，纯文字，深色背景，图不要放</a:t>
            </a:r>
            <a:endParaRPr lang="en-US" altLang="zh-CN" sz="5400" b="1" dirty="0">
              <a:solidFill>
                <a:srgbClr val="0D375E"/>
              </a:solidFill>
            </a:endParaRPr>
          </a:p>
          <a:p>
            <a:r>
              <a:rPr lang="en-US" altLang="zh-CN" sz="5400" b="1" dirty="0">
                <a:solidFill>
                  <a:srgbClr val="0D375E"/>
                </a:solidFill>
              </a:rPr>
              <a:t>Intro</a:t>
            </a:r>
            <a:r>
              <a:rPr lang="zh-CN" altLang="en-US" sz="5400" b="1" dirty="0">
                <a:solidFill>
                  <a:srgbClr val="0D375E"/>
                </a:solidFill>
              </a:rPr>
              <a:t>的放在</a:t>
            </a:r>
            <a:r>
              <a:rPr lang="en-US" altLang="zh-CN" sz="5400" b="1" dirty="0">
                <a:solidFill>
                  <a:srgbClr val="0D375E"/>
                </a:solidFill>
              </a:rPr>
              <a:t>pilot observation</a:t>
            </a:r>
          </a:p>
          <a:p>
            <a:r>
              <a:rPr lang="zh-CN" altLang="en-US" sz="5400" b="1" dirty="0">
                <a:solidFill>
                  <a:srgbClr val="0D375E"/>
                </a:solidFill>
              </a:rPr>
              <a:t>文字上补充</a:t>
            </a:r>
            <a:r>
              <a:rPr lang="en-US" altLang="zh-CN" sz="5400" b="1" dirty="0">
                <a:solidFill>
                  <a:srgbClr val="0D375E"/>
                </a:solidFill>
              </a:rPr>
              <a:t>ROME</a:t>
            </a:r>
            <a:r>
              <a:rPr lang="zh-CN" altLang="en-US" sz="5400" b="1" dirty="0">
                <a:solidFill>
                  <a:srgbClr val="0D375E"/>
                </a:solidFill>
              </a:rPr>
              <a:t>对其他都是崩溃的</a:t>
            </a:r>
            <a:endParaRPr lang="en-US" altLang="zh-CN" sz="5400" b="1" dirty="0">
              <a:solidFill>
                <a:srgbClr val="0D375E"/>
              </a:solidFill>
            </a:endParaRPr>
          </a:p>
          <a:p>
            <a:r>
              <a:rPr lang="zh-CN" altLang="en-US" sz="5400" b="1" dirty="0">
                <a:solidFill>
                  <a:srgbClr val="0D375E"/>
                </a:solidFill>
              </a:rPr>
              <a:t>如何检测崩溃的发生，再用</a:t>
            </a:r>
            <a:r>
              <a:rPr lang="en-US" altLang="zh-CN" sz="5400" b="1" dirty="0">
                <a:solidFill>
                  <a:srgbClr val="0D375E"/>
                </a:solidFill>
              </a:rPr>
              <a:t>ppl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A410E3-C217-4C03-AB6A-12547247CB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78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9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67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6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03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4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73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440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0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97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80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3399-2F7C-0249-BC81-4008E155B995}" type="datetimeFigureOut">
              <a:rPr lang="en-GB" smtClean="0"/>
              <a:t>22/07/2024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91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svg"/><Relationship Id="rId10" Type="http://schemas.openxmlformats.org/officeDocument/2006/relationships/image" Target="../media/image8.png"/><Relationship Id="rId19" Type="http://schemas.openxmlformats.org/officeDocument/2006/relationships/image" Target="../media/image17.tmp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图片 1069">
            <a:extLst>
              <a:ext uri="{FF2B5EF4-FFF2-40B4-BE49-F238E27FC236}">
                <a16:creationId xmlns:a16="http://schemas.microsoft.com/office/drawing/2014/main" id="{CC8E387C-5478-3E51-EE82-F204AC6D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650" y="31846307"/>
            <a:ext cx="14325427" cy="9010881"/>
          </a:xfrm>
          <a:prstGeom prst="rect">
            <a:avLst/>
          </a:prstGeom>
        </p:spPr>
      </p:pic>
      <p:pic>
        <p:nvPicPr>
          <p:cNvPr id="1068" name="图片 1067">
            <a:extLst>
              <a:ext uri="{FF2B5EF4-FFF2-40B4-BE49-F238E27FC236}">
                <a16:creationId xmlns:a16="http://schemas.microsoft.com/office/drawing/2014/main" id="{B9BFF0DB-01BE-90FB-F6C2-D0F9A9F7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650" y="24649199"/>
            <a:ext cx="14325427" cy="6505113"/>
          </a:xfrm>
          <a:prstGeom prst="rect">
            <a:avLst/>
          </a:prstGeom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5216C9D1-A82A-9F54-322E-C0234DE28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753" y="12411556"/>
            <a:ext cx="14357324" cy="11545336"/>
          </a:xfrm>
          <a:prstGeom prst="rect">
            <a:avLst/>
          </a:prstGeom>
        </p:spPr>
      </p:pic>
      <p:sp>
        <p:nvSpPr>
          <p:cNvPr id="1062" name="矩形: 圆角 31">
            <a:extLst>
              <a:ext uri="{FF2B5EF4-FFF2-40B4-BE49-F238E27FC236}">
                <a16:creationId xmlns:a16="http://schemas.microsoft.com/office/drawing/2014/main" id="{7C851852-8563-BAA6-775E-E83F11AFE67A}"/>
              </a:ext>
            </a:extLst>
          </p:cNvPr>
          <p:cNvSpPr/>
          <p:nvPr/>
        </p:nvSpPr>
        <p:spPr>
          <a:xfrm>
            <a:off x="398473" y="33275270"/>
            <a:ext cx="14317358" cy="7581918"/>
          </a:xfrm>
          <a:prstGeom prst="roundRect">
            <a:avLst>
              <a:gd name="adj" fmla="val 2035"/>
            </a:avLst>
          </a:prstGeom>
          <a:solidFill>
            <a:schemeClr val="bg1"/>
          </a:solidFill>
          <a:ln w="38100">
            <a:solidFill>
              <a:srgbClr val="173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9" name="矩形: 圆角 31">
            <a:extLst>
              <a:ext uri="{FF2B5EF4-FFF2-40B4-BE49-F238E27FC236}">
                <a16:creationId xmlns:a16="http://schemas.microsoft.com/office/drawing/2014/main" id="{50118905-4E75-48DA-EE99-67C5E63B508E}"/>
              </a:ext>
            </a:extLst>
          </p:cNvPr>
          <p:cNvSpPr/>
          <p:nvPr/>
        </p:nvSpPr>
        <p:spPr>
          <a:xfrm>
            <a:off x="371783" y="22909675"/>
            <a:ext cx="14317358" cy="9440878"/>
          </a:xfrm>
          <a:prstGeom prst="roundRect">
            <a:avLst>
              <a:gd name="adj" fmla="val 2035"/>
            </a:avLst>
          </a:prstGeom>
          <a:solidFill>
            <a:schemeClr val="bg1"/>
          </a:solidFill>
          <a:ln w="38100">
            <a:solidFill>
              <a:srgbClr val="173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31">
            <a:extLst>
              <a:ext uri="{FF2B5EF4-FFF2-40B4-BE49-F238E27FC236}">
                <a16:creationId xmlns:a16="http://schemas.microsoft.com/office/drawing/2014/main" id="{9C9999E5-12D5-F423-ACD5-4678CC427BFD}"/>
              </a:ext>
            </a:extLst>
          </p:cNvPr>
          <p:cNvSpPr/>
          <p:nvPr/>
        </p:nvSpPr>
        <p:spPr>
          <a:xfrm>
            <a:off x="398473" y="12411556"/>
            <a:ext cx="14317358" cy="9634411"/>
          </a:xfrm>
          <a:prstGeom prst="roundRect">
            <a:avLst>
              <a:gd name="adj" fmla="val 2035"/>
            </a:avLst>
          </a:prstGeom>
          <a:solidFill>
            <a:schemeClr val="bg1"/>
          </a:solidFill>
          <a:ln w="38100">
            <a:solidFill>
              <a:srgbClr val="1736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7" name="Abgerundetes Rechteck 21">
            <a:extLst>
              <a:ext uri="{FF2B5EF4-FFF2-40B4-BE49-F238E27FC236}">
                <a16:creationId xmlns:a16="http://schemas.microsoft.com/office/drawing/2014/main" id="{4CDF04C7-A9C1-5C45-F50C-29576066DC61}"/>
              </a:ext>
            </a:extLst>
          </p:cNvPr>
          <p:cNvSpPr/>
          <p:nvPr/>
        </p:nvSpPr>
        <p:spPr>
          <a:xfrm>
            <a:off x="0" y="41029571"/>
            <a:ext cx="30275213" cy="1781318"/>
          </a:xfrm>
          <a:prstGeom prst="roundRect">
            <a:avLst>
              <a:gd name="adj" fmla="val 0"/>
            </a:avLst>
          </a:prstGeom>
          <a:solidFill>
            <a:srgbClr val="17365E"/>
          </a:solidFill>
          <a:ln>
            <a:solidFill>
              <a:srgbClr val="17365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4" dirty="0">
              <a:solidFill>
                <a:srgbClr val="A5CDF7"/>
              </a:solidFill>
            </a:endParaRPr>
          </a:p>
        </p:txBody>
      </p: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4A3C98F6-3883-5444-8D1E-DEBEF5E974D6}"/>
              </a:ext>
            </a:extLst>
          </p:cNvPr>
          <p:cNvSpPr/>
          <p:nvPr/>
        </p:nvSpPr>
        <p:spPr>
          <a:xfrm>
            <a:off x="0" y="-1151"/>
            <a:ext cx="30275213" cy="7132126"/>
          </a:xfrm>
          <a:prstGeom prst="roundRect">
            <a:avLst>
              <a:gd name="adj" fmla="val 0"/>
            </a:avLst>
          </a:prstGeom>
          <a:solidFill>
            <a:srgbClr val="17365E"/>
          </a:solidFill>
          <a:ln>
            <a:solidFill>
              <a:srgbClr val="17365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4" dirty="0">
              <a:solidFill>
                <a:srgbClr val="A5CDF7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014B361-00AF-5F7D-7D26-2C9542749D74}"/>
              </a:ext>
            </a:extLst>
          </p:cNvPr>
          <p:cNvSpPr txBox="1"/>
          <p:nvPr/>
        </p:nvSpPr>
        <p:spPr>
          <a:xfrm>
            <a:off x="2057790" y="1733865"/>
            <a:ext cx="24276232" cy="343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Sequential edits</a:t>
            </a:r>
            <a:r>
              <a:rPr lang="zh-CN" altLang="en-US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lead to </a:t>
            </a:r>
            <a:r>
              <a:rPr lang="en-US" altLang="zh-CN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LLMs</a:t>
            </a:r>
            <a:r>
              <a:rPr lang="en-US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collapse</a:t>
            </a:r>
            <a:r>
              <a:rPr lang="en-US" sz="9500" b="1" dirty="0">
                <a:solidFill>
                  <a:srgbClr val="97B8DA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GB" sz="95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Just one ROME edit can destroy LLMs</a:t>
            </a:r>
            <a:r>
              <a:rPr lang="en-US" sz="950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.</a:t>
            </a:r>
            <a:endParaRPr lang="en-GB" sz="9500" b="1" dirty="0">
              <a:solidFill>
                <a:schemeClr val="bg1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A570730-BDD1-FA8F-89E6-6E500ACA5943}"/>
              </a:ext>
            </a:extLst>
          </p:cNvPr>
          <p:cNvSpPr txBox="1"/>
          <p:nvPr/>
        </p:nvSpPr>
        <p:spPr>
          <a:xfrm>
            <a:off x="15967458" y="36851409"/>
            <a:ext cx="13587003" cy="355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Provide </a:t>
            </a:r>
            <a:r>
              <a:rPr lang="en-US" altLang="zh-CN" sz="4000" dirty="0" err="1">
                <a:latin typeface="Helvetica" panose="020B0604020202020204" pitchFamily="34" charset="0"/>
                <a:cs typeface="Helvetica" panose="020B0604020202020204" pitchFamily="34" charset="0"/>
              </a:rPr>
              <a:t>HardCF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samples and requirements in prompt.</a:t>
            </a:r>
          </a:p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Prompt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GPT-3.5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to generate more hard samples.</a:t>
            </a:r>
          </a:p>
          <a:p>
            <a:pPr marL="571500" indent="-571500">
              <a:lnSpc>
                <a:spcPct val="114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Filter collapse samples with single edits of ROME.</a:t>
            </a:r>
          </a:p>
          <a:p>
            <a:pPr>
              <a:lnSpc>
                <a:spcPct val="114000"/>
              </a:lnSpc>
              <a:buSzPct val="60000"/>
            </a:pPr>
            <a:r>
              <a:rPr lang="en-US" altLang="zh-CN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HardEdit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 (469 samples):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000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causing nearly </a:t>
            </a:r>
            <a:r>
              <a:rPr lang="en-US" altLang="zh-CN" sz="400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all sequentially</a:t>
            </a:r>
            <a:r>
              <a:rPr lang="en-US" altLang="zh-CN" sz="4000" b="1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 edited LLMs to collapse</a:t>
            </a:r>
            <a:r>
              <a:rPr lang="en-US" altLang="zh-CN" sz="4000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.</a:t>
            </a:r>
            <a:endParaRPr lang="en-US" altLang="zh-CN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7107C7E-220E-623F-410D-B548124D706D}"/>
              </a:ext>
            </a:extLst>
          </p:cNvPr>
          <p:cNvSpPr/>
          <p:nvPr/>
        </p:nvSpPr>
        <p:spPr>
          <a:xfrm>
            <a:off x="4094865" y="11759435"/>
            <a:ext cx="6611235" cy="1292943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365E"/>
              </a:solidFill>
            </a:endParaRPr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6C40925D-6FFD-70EE-6617-2CD98DACB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28273" y="32643629"/>
            <a:ext cx="13587003" cy="3882002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2A088967-0A45-8BDF-9C0F-1CAAC7BE5057}"/>
              </a:ext>
            </a:extLst>
          </p:cNvPr>
          <p:cNvSpPr txBox="1"/>
          <p:nvPr/>
        </p:nvSpPr>
        <p:spPr>
          <a:xfrm>
            <a:off x="14043506" y="41636085"/>
            <a:ext cx="35554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yangyywl@gmail.com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F406CF7-CE32-E785-017A-A700E855454F}"/>
              </a:ext>
            </a:extLst>
          </p:cNvPr>
          <p:cNvSpPr txBox="1"/>
          <p:nvPr/>
        </p:nvSpPr>
        <p:spPr>
          <a:xfrm>
            <a:off x="24403639" y="41636084"/>
            <a:ext cx="3098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@10k_miles_yang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287347-CEF1-E4B8-3027-72FBAB361716}"/>
              </a:ext>
            </a:extLst>
          </p:cNvPr>
          <p:cNvSpPr txBox="1"/>
          <p:nvPr/>
        </p:nvSpPr>
        <p:spPr>
          <a:xfrm>
            <a:off x="4518165" y="41636085"/>
            <a:ext cx="21714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WanliYoung</a:t>
            </a:r>
            <a:endParaRPr lang="zh-CN" altLang="en-US" sz="25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9" name="图片 4">
            <a:extLst>
              <a:ext uri="{FF2B5EF4-FFF2-40B4-BE49-F238E27FC236}">
                <a16:creationId xmlns:a16="http://schemas.microsoft.com/office/drawing/2014/main" id="{73D6EA15-92BF-AB8F-2419-70B6410266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2002" y="7093102"/>
            <a:ext cx="7769175" cy="3107670"/>
          </a:xfrm>
          <a:prstGeom prst="rect">
            <a:avLst/>
          </a:prstGeom>
        </p:spPr>
      </p:pic>
      <p:pic>
        <p:nvPicPr>
          <p:cNvPr id="1030" name="图形 14">
            <a:extLst>
              <a:ext uri="{FF2B5EF4-FFF2-40B4-BE49-F238E27FC236}">
                <a16:creationId xmlns:a16="http://schemas.microsoft.com/office/drawing/2014/main" id="{2F7338E4-A7E9-498D-0331-B73F27691B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42986" y="9855565"/>
            <a:ext cx="1695135" cy="1695135"/>
          </a:xfrm>
          <a:prstGeom prst="rect">
            <a:avLst/>
          </a:prstGeom>
        </p:spPr>
      </p:pic>
      <p:pic>
        <p:nvPicPr>
          <p:cNvPr id="1031" name="图片 10">
            <a:extLst>
              <a:ext uri="{FF2B5EF4-FFF2-40B4-BE49-F238E27FC236}">
                <a16:creationId xmlns:a16="http://schemas.microsoft.com/office/drawing/2014/main" id="{0E24D608-B563-BBAB-4EC1-97FF5C6856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31294" y="9511742"/>
            <a:ext cx="2201163" cy="2163259"/>
          </a:xfrm>
          <a:prstGeom prst="rect">
            <a:avLst/>
          </a:prstGeom>
        </p:spPr>
      </p:pic>
      <p:sp>
        <p:nvSpPr>
          <p:cNvPr id="1032" name="文本框 8">
            <a:extLst>
              <a:ext uri="{FF2B5EF4-FFF2-40B4-BE49-F238E27FC236}">
                <a16:creationId xmlns:a16="http://schemas.microsoft.com/office/drawing/2014/main" id="{A80913A7-8C66-FBF2-65EA-9DD7B82816D6}"/>
              </a:ext>
            </a:extLst>
          </p:cNvPr>
          <p:cNvSpPr txBox="1"/>
          <p:nvPr/>
        </p:nvSpPr>
        <p:spPr>
          <a:xfrm>
            <a:off x="163051" y="7743966"/>
            <a:ext cx="22026759" cy="3339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62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The Butterfly Effect of Model Editing: </a:t>
            </a:r>
          </a:p>
          <a:p>
            <a:pPr algn="ctr">
              <a:lnSpc>
                <a:spcPct val="110000"/>
              </a:lnSpc>
            </a:pPr>
            <a:r>
              <a:rPr lang="en-US" altLang="zh-CN" sz="6200" b="1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Few Edits Can Trigger Large Language Models Collapse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altLang="zh-CN" sz="44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Wanli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Yang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zh-CN" altLang="en-US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Fei Sun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  <a:sym typeface="Wingdings 2" panose="05020102010507070707" pitchFamily="18" charset="2"/>
              </a:rPr>
              <a:t>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zh-CN" altLang="en-US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Xinyu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Ma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3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Xun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Liu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2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Dawei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Yin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3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4400" dirty="0" err="1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Xueqi</a:t>
            </a:r>
            <a:r>
              <a:rPr lang="en-US" altLang="zh-CN" sz="44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Cheng</a:t>
            </a:r>
            <a:r>
              <a:rPr lang="en-US" altLang="zh-CN" sz="4400" baseline="300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1,2</a:t>
            </a:r>
          </a:p>
        </p:txBody>
      </p:sp>
      <p:pic>
        <p:nvPicPr>
          <p:cNvPr id="1035" name="图形 20">
            <a:extLst>
              <a:ext uri="{FF2B5EF4-FFF2-40B4-BE49-F238E27FC236}">
                <a16:creationId xmlns:a16="http://schemas.microsoft.com/office/drawing/2014/main" id="{54EA42D3-9BD0-0431-99C8-606EE53877A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33566" b="32255"/>
          <a:stretch/>
        </p:blipFill>
        <p:spPr>
          <a:xfrm>
            <a:off x="26690022" y="10012588"/>
            <a:ext cx="3307575" cy="1130497"/>
          </a:xfrm>
          <a:prstGeom prst="rect">
            <a:avLst/>
          </a:prstGeom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884CF6CC-4E8C-E040-0D0B-7299F541829B}"/>
              </a:ext>
            </a:extLst>
          </p:cNvPr>
          <p:cNvGrpSpPr/>
          <p:nvPr/>
        </p:nvGrpSpPr>
        <p:grpSpPr>
          <a:xfrm>
            <a:off x="17034509" y="24143689"/>
            <a:ext cx="10920391" cy="1179161"/>
            <a:chOff x="18706761" y="11967109"/>
            <a:chExt cx="10144238" cy="1179161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C07D306-DB1C-97AF-1393-240C74198BE9}"/>
                </a:ext>
              </a:extLst>
            </p:cNvPr>
            <p:cNvSpPr/>
            <p:nvPr/>
          </p:nvSpPr>
          <p:spPr>
            <a:xfrm>
              <a:off x="18706761" y="11967109"/>
              <a:ext cx="10144238" cy="117916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365E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BE4B2CC-DB85-0F8F-75B4-013884CB0076}"/>
                </a:ext>
              </a:extLst>
            </p:cNvPr>
            <p:cNvSpPr txBox="1"/>
            <p:nvPr/>
          </p:nvSpPr>
          <p:spPr>
            <a:xfrm>
              <a:off x="19657817" y="12041420"/>
              <a:ext cx="8736790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000" b="1" dirty="0">
                  <a:solidFill>
                    <a:srgbClr val="17365E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Reasons Behind Collapse</a:t>
              </a:r>
            </a:p>
          </p:txBody>
        </p:sp>
      </p:grpSp>
      <p:sp>
        <p:nvSpPr>
          <p:cNvPr id="1060" name="文本框 34">
            <a:extLst>
              <a:ext uri="{FF2B5EF4-FFF2-40B4-BE49-F238E27FC236}">
                <a16:creationId xmlns:a16="http://schemas.microsoft.com/office/drawing/2014/main" id="{CDC04F62-A204-1CEE-660B-BC1CE46FD6B6}"/>
              </a:ext>
            </a:extLst>
          </p:cNvPr>
          <p:cNvSpPr txBox="1"/>
          <p:nvPr/>
        </p:nvSpPr>
        <p:spPr>
          <a:xfrm>
            <a:off x="6365162" y="11948885"/>
            <a:ext cx="36447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Motivation</a:t>
            </a:r>
          </a:p>
        </p:txBody>
      </p:sp>
      <p:sp>
        <p:nvSpPr>
          <p:cNvPr id="1061" name="矩形: 圆角 13">
            <a:extLst>
              <a:ext uri="{FF2B5EF4-FFF2-40B4-BE49-F238E27FC236}">
                <a16:creationId xmlns:a16="http://schemas.microsoft.com/office/drawing/2014/main" id="{153D7C16-ABB3-34FA-2CA0-A8CD3C38F2FD}"/>
              </a:ext>
            </a:extLst>
          </p:cNvPr>
          <p:cNvSpPr/>
          <p:nvPr/>
        </p:nvSpPr>
        <p:spPr>
          <a:xfrm>
            <a:off x="16949217" y="31252026"/>
            <a:ext cx="11490395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i="1" dirty="0" err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HardEdit</a:t>
            </a:r>
            <a:r>
              <a:rPr lang="en-US" altLang="zh-CN" sz="5000" b="1" dirty="0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A Challenging Dataset</a:t>
            </a:r>
          </a:p>
        </p:txBody>
      </p:sp>
      <p:sp>
        <p:nvSpPr>
          <p:cNvPr id="1069" name="矩形: 圆角 13">
            <a:extLst>
              <a:ext uri="{FF2B5EF4-FFF2-40B4-BE49-F238E27FC236}">
                <a16:creationId xmlns:a16="http://schemas.microsoft.com/office/drawing/2014/main" id="{1CE8D6CD-C1A4-631E-E8AC-F9B35E33E945}"/>
              </a:ext>
            </a:extLst>
          </p:cNvPr>
          <p:cNvSpPr/>
          <p:nvPr/>
        </p:nvSpPr>
        <p:spPr>
          <a:xfrm>
            <a:off x="1381091" y="32701925"/>
            <a:ext cx="12404515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</a:t>
            </a:r>
            <a:r>
              <a:rPr lang="en-US" altLang="zh-CN" sz="5000" b="1" i="1" dirty="0" err="1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HardCF</a:t>
            </a:r>
            <a:r>
              <a:rPr lang="en-US" altLang="zh-CN" sz="5000" b="1" dirty="0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Single Edit to Collapse</a:t>
            </a:r>
          </a:p>
        </p:txBody>
      </p:sp>
      <p:sp>
        <p:nvSpPr>
          <p:cNvPr id="1073" name="矩形: 圆角 13">
            <a:extLst>
              <a:ext uri="{FF2B5EF4-FFF2-40B4-BE49-F238E27FC236}">
                <a16:creationId xmlns:a16="http://schemas.microsoft.com/office/drawing/2014/main" id="{D631CEB2-2CEE-32D4-E4A3-BED5E96BDF0C}"/>
              </a:ext>
            </a:extLst>
          </p:cNvPr>
          <p:cNvSpPr/>
          <p:nvPr/>
        </p:nvSpPr>
        <p:spPr>
          <a:xfrm>
            <a:off x="17570302" y="11823733"/>
            <a:ext cx="10248226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Sequential Edits to Collapse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4F2EDE02-0CBE-F076-F25B-6361D8983B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98709" y="13110758"/>
            <a:ext cx="6920310" cy="51958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805E87-8AB3-3036-366C-B9791929DE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935" y="13017240"/>
            <a:ext cx="6300339" cy="527251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1DF171-2C0D-2428-9986-478A6A081C53}"/>
              </a:ext>
            </a:extLst>
          </p:cNvPr>
          <p:cNvSpPr txBox="1"/>
          <p:nvPr/>
        </p:nvSpPr>
        <p:spPr>
          <a:xfrm>
            <a:off x="636715" y="18588770"/>
            <a:ext cx="1389326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Model collapses caused by single edits of ROME</a:t>
            </a:r>
            <a:r>
              <a:rPr lang="zh-CN" altLang="en-US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</a:t>
            </a:r>
            <a:r>
              <a:rPr lang="en-US" altLang="zh-CN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occur in </a:t>
            </a:r>
            <a:r>
              <a:rPr lang="en-US" altLang="zh-CN" sz="4000" b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GPT-2-XL</a:t>
            </a:r>
            <a:r>
              <a:rPr lang="en-US" altLang="zh-CN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, </a:t>
            </a:r>
            <a:r>
              <a:rPr lang="en-US" altLang="zh-CN" sz="4000" b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GPT-J</a:t>
            </a:r>
            <a:r>
              <a:rPr lang="en-US" altLang="zh-CN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, and </a:t>
            </a:r>
            <a:r>
              <a:rPr lang="en-US" altLang="zh-CN" sz="4000" b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Llama2-7b</a:t>
            </a:r>
            <a:r>
              <a:rPr lang="en-US" altLang="zh-CN" sz="4000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.</a:t>
            </a:r>
          </a:p>
          <a:p>
            <a:pPr marL="571500" indent="-571500" defTabSz="457200">
              <a:lnSpc>
                <a:spcPct val="12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 i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How can we </a:t>
            </a:r>
            <a:r>
              <a:rPr lang="en-US" altLang="zh-CN" sz="4000" b="1" i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efficiently identify collapse </a:t>
            </a:r>
            <a:r>
              <a:rPr lang="en-US" altLang="zh-CN" sz="4000" i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in edited LLMs?</a:t>
            </a:r>
          </a:p>
          <a:p>
            <a:pPr marL="571500" indent="-571500" defTabSz="457200"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 i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Is Model collapse </a:t>
            </a:r>
            <a:r>
              <a:rPr lang="en-US" altLang="zh-CN" sz="4000" b="1" i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a common issue </a:t>
            </a:r>
            <a:r>
              <a:rPr lang="en-US" altLang="zh-CN" sz="4000" i="1" kern="2300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across different LLMs and editing methods?</a:t>
            </a:r>
            <a:endParaRPr lang="zh-CN" altLang="en-US" sz="4000" i="1" kern="2300" dirty="0">
              <a:solidFill>
                <a:prstClr val="black"/>
              </a:solidFill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EB928B6-679E-E1A0-EF4F-A59F3592F066}"/>
              </a:ext>
            </a:extLst>
          </p:cNvPr>
          <p:cNvSpPr/>
          <p:nvPr/>
        </p:nvSpPr>
        <p:spPr>
          <a:xfrm>
            <a:off x="9052284" y="35715811"/>
            <a:ext cx="4876231" cy="1035760"/>
          </a:xfrm>
          <a:prstGeom prst="roundRect">
            <a:avLst/>
          </a:prstGeom>
          <a:solidFill>
            <a:srgbClr val="C1DEEE"/>
          </a:solidFill>
          <a:ln>
            <a:solidFill>
              <a:srgbClr val="C1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Picture 4" descr="Edit Cases Trigger Collapse">
            <a:extLst>
              <a:ext uri="{FF2B5EF4-FFF2-40B4-BE49-F238E27FC236}">
                <a16:creationId xmlns:a16="http://schemas.microsoft.com/office/drawing/2014/main" id="{5DCB609D-FC91-7CE2-E642-597861E87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86" y="33860002"/>
            <a:ext cx="7970396" cy="541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BBEC3F8-D5E8-E4FF-BE16-834F17D4A6A6}"/>
              </a:ext>
            </a:extLst>
          </p:cNvPr>
          <p:cNvSpPr txBox="1"/>
          <p:nvPr/>
        </p:nvSpPr>
        <p:spPr>
          <a:xfrm>
            <a:off x="974667" y="39445859"/>
            <a:ext cx="135662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HardCF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107 samples 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from COUNTERFACT that trigger LLMs collapse through a single ROME edit.</a:t>
            </a:r>
            <a:endParaRPr lang="zh-CN" altLang="en-US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0135FB8-8AD4-3227-40D0-33B548570B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50506" y="37526346"/>
            <a:ext cx="1132258" cy="113225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9CC1CC0-2633-335A-4535-6B6CB3E2CD8D}"/>
              </a:ext>
            </a:extLst>
          </p:cNvPr>
          <p:cNvSpPr txBox="1"/>
          <p:nvPr/>
        </p:nvSpPr>
        <p:spPr>
          <a:xfrm>
            <a:off x="9124096" y="35813787"/>
            <a:ext cx="51908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>
                <a:latin typeface="Helvetica" panose="020B0604020202020204" pitchFamily="34" charset="0"/>
                <a:cs typeface="Helvetica" panose="020B0604020202020204" pitchFamily="34" charset="0"/>
              </a:rPr>
              <a:t>Subject for GPT models: single, commonly used words.</a:t>
            </a:r>
            <a:endParaRPr lang="zh-CN" altLang="en-US" sz="25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4F3A755-014F-BD36-9132-4F8D296DCDDA}"/>
              </a:ext>
            </a:extLst>
          </p:cNvPr>
          <p:cNvSpPr/>
          <p:nvPr/>
        </p:nvSpPr>
        <p:spPr>
          <a:xfrm>
            <a:off x="12228233" y="36874393"/>
            <a:ext cx="261258" cy="246743"/>
          </a:xfrm>
          <a:prstGeom prst="ellipse">
            <a:avLst/>
          </a:prstGeom>
          <a:solidFill>
            <a:srgbClr val="C1DEEE"/>
          </a:solidFill>
          <a:ln>
            <a:solidFill>
              <a:srgbClr val="C1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97638D2-FE22-959B-BAD9-FEB11DE576CE}"/>
              </a:ext>
            </a:extLst>
          </p:cNvPr>
          <p:cNvSpPr/>
          <p:nvPr/>
        </p:nvSpPr>
        <p:spPr>
          <a:xfrm>
            <a:off x="12496737" y="37149714"/>
            <a:ext cx="196396" cy="186690"/>
          </a:xfrm>
          <a:prstGeom prst="ellipse">
            <a:avLst/>
          </a:prstGeom>
          <a:solidFill>
            <a:srgbClr val="C1DEEE"/>
          </a:solidFill>
          <a:ln>
            <a:solidFill>
              <a:srgbClr val="C1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B211251-6DA3-6597-0790-3566D95A00B8}"/>
              </a:ext>
            </a:extLst>
          </p:cNvPr>
          <p:cNvSpPr/>
          <p:nvPr/>
        </p:nvSpPr>
        <p:spPr>
          <a:xfrm>
            <a:off x="12706081" y="37388233"/>
            <a:ext cx="144961" cy="138113"/>
          </a:xfrm>
          <a:prstGeom prst="ellipse">
            <a:avLst/>
          </a:prstGeom>
          <a:solidFill>
            <a:srgbClr val="C1DEEE"/>
          </a:solidFill>
          <a:ln>
            <a:solidFill>
              <a:srgbClr val="C1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D09472E-4FDE-4FB0-6911-ECA85F4BEFF9}"/>
              </a:ext>
            </a:extLst>
          </p:cNvPr>
          <p:cNvSpPr txBox="1"/>
          <p:nvPr/>
        </p:nvSpPr>
        <p:spPr>
          <a:xfrm>
            <a:off x="15861976" y="28280489"/>
            <a:ext cx="1336906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10000"/>
              </a:lnSpc>
              <a:buSzPct val="60000"/>
              <a:buFont typeface="Wingdings" panose="05000000000000000000" pitchFamily="2" charset="2"/>
              <a:buChar char="l"/>
              <a:defRPr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Collapse edits cause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significant parameters changes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  <a:p>
            <a:pPr marL="571500" marR="0" lvl="0" indent="-57150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The collapse originates from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irregular implementation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of ROME and </a:t>
            </a:r>
            <a:r>
              <a:rPr lang="en-US" altLang="zh-CN" sz="4000" b="1" dirty="0">
                <a:solidFill>
                  <a:prstClr val="black"/>
                </a:solidFill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subjects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 of hard samples are located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in the first token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等线" panose="02010600030101010101" pitchFamily="2" charset="-122"/>
                <a:cs typeface="Helvetica" panose="020B0604020202020204" pitchFamily="34" charset="0"/>
              </a:rPr>
              <a:t>.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等线" panose="02010600030101010101" pitchFamily="2" charset="-122"/>
              <a:cs typeface="Helvetica" panose="020B0604020202020204" pitchFamily="34" charset="0"/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5F3ABCEB-0909-5119-0213-2D1AB5651C9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861976" y="12903148"/>
            <a:ext cx="13716000" cy="91440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A155E905-A9C2-C5AF-D00E-257B67CA8A12}"/>
              </a:ext>
            </a:extLst>
          </p:cNvPr>
          <p:cNvSpPr txBox="1"/>
          <p:nvPr/>
        </p:nvSpPr>
        <p:spPr>
          <a:xfrm>
            <a:off x="15861976" y="22158234"/>
            <a:ext cx="145530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Almost all methods lead to model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collapse on </a:t>
            </a:r>
            <a:r>
              <a:rPr lang="en-US" altLang="zh-CN" sz="4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HardCF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571500" indent="-571500">
              <a:buSzPct val="60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ROME and MEMIT maintain </a:t>
            </a:r>
            <a:r>
              <a:rPr lang="en-US" altLang="zh-CN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stability on normal</a:t>
            </a:r>
            <a:r>
              <a:rPr lang="en-US" altLang="zh-CN" sz="4000" dirty="0">
                <a:latin typeface="Helvetica" panose="020B0604020202020204" pitchFamily="34" charset="0"/>
                <a:cs typeface="Helvetica" panose="020B0604020202020204" pitchFamily="34" charset="0"/>
              </a:rPr>
              <a:t> samples.</a:t>
            </a: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5952E796-E828-A27C-E095-FD22A899C152}"/>
              </a:ext>
            </a:extLst>
          </p:cNvPr>
          <p:cNvSpPr txBox="1"/>
          <p:nvPr/>
        </p:nvSpPr>
        <p:spPr>
          <a:xfrm>
            <a:off x="25600383" y="4371805"/>
            <a:ext cx="301164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b="1" dirty="0">
                <a:solidFill>
                  <a:srgbClr val="97B8D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Project Page</a:t>
            </a:r>
            <a:endParaRPr lang="en-GB" sz="3500" b="1" dirty="0">
              <a:solidFill>
                <a:srgbClr val="97B8DA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65" name="矩形: 圆角 13">
            <a:extLst>
              <a:ext uri="{FF2B5EF4-FFF2-40B4-BE49-F238E27FC236}">
                <a16:creationId xmlns:a16="http://schemas.microsoft.com/office/drawing/2014/main" id="{BA208439-DB3A-1A6E-81FC-6061D3967DF6}"/>
              </a:ext>
            </a:extLst>
          </p:cNvPr>
          <p:cNvSpPr/>
          <p:nvPr/>
        </p:nvSpPr>
        <p:spPr>
          <a:xfrm>
            <a:off x="1713242" y="22330785"/>
            <a:ext cx="11370934" cy="1179161"/>
          </a:xfrm>
          <a:prstGeom prst="roundRect">
            <a:avLst/>
          </a:prstGeom>
          <a:solidFill>
            <a:srgbClr val="FFFFFF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17365E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Perplexity as a Surrogate Metric</a:t>
            </a:r>
            <a:endParaRPr lang="zh-CN" altLang="en-US" sz="5000" b="1" dirty="0">
              <a:solidFill>
                <a:srgbClr val="17365E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C3CE15DC-CAE5-F382-FC41-F52F1E07026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601022" y="25551067"/>
            <a:ext cx="6179679" cy="2135141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E1AE774F-3787-0C11-2234-CC9BE7152437}"/>
              </a:ext>
            </a:extLst>
          </p:cNvPr>
          <p:cNvSpPr/>
          <p:nvPr/>
        </p:nvSpPr>
        <p:spPr>
          <a:xfrm>
            <a:off x="27463589" y="26468613"/>
            <a:ext cx="416086" cy="4304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0246657-C38E-7956-88BC-2FBFF492E7E7}"/>
              </a:ext>
            </a:extLst>
          </p:cNvPr>
          <p:cNvSpPr/>
          <p:nvPr/>
        </p:nvSpPr>
        <p:spPr>
          <a:xfrm>
            <a:off x="28317151" y="26468613"/>
            <a:ext cx="416086" cy="4304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877ACC-2E26-2434-C583-3D7EC9446534}"/>
              </a:ext>
            </a:extLst>
          </p:cNvPr>
          <p:cNvSpPr txBox="1"/>
          <p:nvPr/>
        </p:nvSpPr>
        <p:spPr>
          <a:xfrm>
            <a:off x="24062893" y="27063315"/>
            <a:ext cx="23050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Inconsistency!</a:t>
            </a:r>
            <a:endParaRPr lang="zh-CN" altLang="en-US" sz="2500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id="{3775605F-2363-2790-D91F-8E7D501A1E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13429" y="11756618"/>
            <a:ext cx="1125893" cy="112589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6876BE47-DAA3-0694-66C6-4757DAF5C6D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858331" y="41424178"/>
            <a:ext cx="908735" cy="908735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B8F9FCD5-4C97-3838-0A50-BD5E00B8304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94183" y="41453031"/>
            <a:ext cx="843161" cy="843161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A2426632-C6F3-ED85-C077-8162146994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218464" y="41424178"/>
            <a:ext cx="908735" cy="908735"/>
          </a:xfrm>
          <a:prstGeom prst="rect">
            <a:avLst/>
          </a:prstGeom>
        </p:spPr>
      </p:pic>
      <p:pic>
        <p:nvPicPr>
          <p:cNvPr id="56" name="图形 55">
            <a:extLst>
              <a:ext uri="{FF2B5EF4-FFF2-40B4-BE49-F238E27FC236}">
                <a16:creationId xmlns:a16="http://schemas.microsoft.com/office/drawing/2014/main" id="{358AB194-23D3-60D7-4D50-68367DE52A5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638709" y="25349734"/>
            <a:ext cx="7994929" cy="2664976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0080881D-3A77-82F5-3516-C24A6BEE37D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039375" y="32807464"/>
            <a:ext cx="940937" cy="940937"/>
          </a:xfrm>
          <a:prstGeom prst="rect">
            <a:avLst/>
          </a:prstGeom>
        </p:spPr>
      </p:pic>
      <p:pic>
        <p:nvPicPr>
          <p:cNvPr id="1074" name="图形 1073">
            <a:extLst>
              <a:ext uri="{FF2B5EF4-FFF2-40B4-BE49-F238E27FC236}">
                <a16:creationId xmlns:a16="http://schemas.microsoft.com/office/drawing/2014/main" id="{141960B8-B319-7FCE-4749-BF198029320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666999" y="7580186"/>
            <a:ext cx="1221335" cy="1221335"/>
          </a:xfrm>
          <a:prstGeom prst="rect">
            <a:avLst/>
          </a:prstGeom>
        </p:spPr>
      </p:pic>
      <p:pic>
        <p:nvPicPr>
          <p:cNvPr id="1086" name="图片 1085">
            <a:extLst>
              <a:ext uri="{FF2B5EF4-FFF2-40B4-BE49-F238E27FC236}">
                <a16:creationId xmlns:a16="http://schemas.microsoft.com/office/drawing/2014/main" id="{13951FCA-4BBC-36A5-E87B-391032634A3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5688775" y="2063024"/>
            <a:ext cx="2416221" cy="2305488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3F0BC1A9-5C7B-6808-8951-AAD68D278BB7}"/>
              </a:ext>
            </a:extLst>
          </p:cNvPr>
          <p:cNvSpPr/>
          <p:nvPr/>
        </p:nvSpPr>
        <p:spPr>
          <a:xfrm>
            <a:off x="18888075" y="24021679"/>
            <a:ext cx="114300" cy="255552"/>
          </a:xfrm>
          <a:prstGeom prst="rect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4" name="矩形 1023">
            <a:extLst>
              <a:ext uri="{FF2B5EF4-FFF2-40B4-BE49-F238E27FC236}">
                <a16:creationId xmlns:a16="http://schemas.microsoft.com/office/drawing/2014/main" id="{4E480D84-6526-56A9-0A50-FC562FF8D7B1}"/>
              </a:ext>
            </a:extLst>
          </p:cNvPr>
          <p:cNvSpPr/>
          <p:nvPr/>
        </p:nvSpPr>
        <p:spPr>
          <a:xfrm rot="17737861">
            <a:off x="18630613" y="24199064"/>
            <a:ext cx="114300" cy="282241"/>
          </a:xfrm>
          <a:prstGeom prst="rect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矩形 1024">
            <a:extLst>
              <a:ext uri="{FF2B5EF4-FFF2-40B4-BE49-F238E27FC236}">
                <a16:creationId xmlns:a16="http://schemas.microsoft.com/office/drawing/2014/main" id="{75C800EA-ADCA-ABB3-E8AF-7AB4ED12172C}"/>
              </a:ext>
            </a:extLst>
          </p:cNvPr>
          <p:cNvSpPr/>
          <p:nvPr/>
        </p:nvSpPr>
        <p:spPr>
          <a:xfrm rot="16200000">
            <a:off x="18537118" y="24459092"/>
            <a:ext cx="114300" cy="282241"/>
          </a:xfrm>
          <a:prstGeom prst="rect">
            <a:avLst/>
          </a:prstGeom>
          <a:solidFill>
            <a:srgbClr val="FF7E79"/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 19">
            <a:extLst>
              <a:ext uri="{FF2B5EF4-FFF2-40B4-BE49-F238E27FC236}">
                <a16:creationId xmlns:a16="http://schemas.microsoft.com/office/drawing/2014/main" id="{5512B9A7-0538-B34E-F73B-4EA2F72E4019}"/>
              </a:ext>
            </a:extLst>
          </p:cNvPr>
          <p:cNvSpPr>
            <a:spLocks noChangeAspect="1" noEditPoints="1"/>
          </p:cNvSpPr>
          <p:nvPr/>
        </p:nvSpPr>
        <p:spPr bwMode="auto">
          <a:xfrm rot="5400000" flipV="1">
            <a:off x="-678853" y="21032309"/>
            <a:ext cx="2476557" cy="830482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Freeform 19">
            <a:extLst>
              <a:ext uri="{FF2B5EF4-FFF2-40B4-BE49-F238E27FC236}">
                <a16:creationId xmlns:a16="http://schemas.microsoft.com/office/drawing/2014/main" id="{AD1EBAE0-B4FD-A309-E096-06D2512E43B1}"/>
              </a:ext>
            </a:extLst>
          </p:cNvPr>
          <p:cNvSpPr>
            <a:spLocks noChangeAspect="1" noEditPoints="1"/>
          </p:cNvSpPr>
          <p:nvPr/>
        </p:nvSpPr>
        <p:spPr bwMode="auto">
          <a:xfrm flipV="1">
            <a:off x="13146108" y="20979608"/>
            <a:ext cx="2270793" cy="78908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54160720-5C21-19C9-3078-F04C16E1854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34036" y="23536614"/>
            <a:ext cx="13635354" cy="8707645"/>
          </a:xfrm>
          <a:prstGeom prst="rect">
            <a:avLst/>
          </a:prstGeom>
        </p:spPr>
      </p:pic>
      <p:sp>
        <p:nvSpPr>
          <p:cNvPr id="1063" name="文本框 53">
            <a:extLst>
              <a:ext uri="{FF2B5EF4-FFF2-40B4-BE49-F238E27FC236}">
                <a16:creationId xmlns:a16="http://schemas.microsoft.com/office/drawing/2014/main" id="{C511B5C3-C254-C9C2-7296-72FAA87BD31E}"/>
              </a:ext>
            </a:extLst>
          </p:cNvPr>
          <p:cNvSpPr txBox="1"/>
          <p:nvPr/>
        </p:nvSpPr>
        <p:spPr>
          <a:xfrm>
            <a:off x="8397375" y="28676647"/>
            <a:ext cx="616263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24292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zh-CN" sz="4000" b="1" i="0" dirty="0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ignificant correlation</a:t>
            </a:r>
            <a:r>
              <a:rPr lang="en-US" altLang="zh-CN" sz="4000" b="0" i="0" dirty="0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between </a:t>
            </a:r>
            <a:r>
              <a:rPr lang="en-US" altLang="zh-CN" sz="4000" i="0" dirty="0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perplexity</a:t>
            </a:r>
            <a:r>
              <a:rPr lang="en-US" altLang="zh-CN" sz="4000" b="0" i="0" dirty="0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and task performance </a:t>
            </a:r>
            <a:r>
              <a:rPr lang="en-US" altLang="zh-CN" sz="4000" b="0" i="0" dirty="0" err="1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valida</a:t>
            </a:r>
            <a:r>
              <a:rPr lang="en-US" altLang="zh-CN" sz="4000" b="0" i="0" dirty="0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</a:p>
          <a:p>
            <a:r>
              <a:rPr lang="en-US" altLang="zh-CN" sz="4000" b="0" i="0" dirty="0" err="1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tes</a:t>
            </a:r>
            <a:r>
              <a:rPr lang="en-US" altLang="zh-CN" sz="4000" b="0" i="0" dirty="0">
                <a:solidFill>
                  <a:srgbClr val="24292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its effectiveness as a surrogate metric.</a:t>
            </a:r>
            <a:endParaRPr lang="zh-CN" altLang="en-US" sz="4000" dirty="0">
              <a:solidFill>
                <a:srgbClr val="17365E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BA0BEAD-EEA8-E617-33AB-2F2B680DDE52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51985" y="28832523"/>
            <a:ext cx="7010282" cy="285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2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5689</TotalTime>
  <Words>304</Words>
  <Application>Microsoft Office PowerPoint</Application>
  <PresentationFormat>自定义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Helvetica</vt:lpstr>
      <vt:lpstr>Noto Sans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C</dc:creator>
  <cp:lastModifiedBy>万里 杨</cp:lastModifiedBy>
  <cp:revision>55</cp:revision>
  <dcterms:created xsi:type="dcterms:W3CDTF">2019-03-03T08:35:39Z</dcterms:created>
  <dcterms:modified xsi:type="dcterms:W3CDTF">2024-07-23T12:17:55Z</dcterms:modified>
</cp:coreProperties>
</file>