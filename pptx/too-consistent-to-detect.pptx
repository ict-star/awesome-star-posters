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2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27" userDrawn="1">
          <p15:clr>
            <a:srgbClr val="A4A3A4"/>
          </p15:clr>
        </p15:guide>
        <p15:guide id="2" pos="95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0104"/>
    <a:srgbClr val="AD0204"/>
    <a:srgbClr val="FFA012"/>
    <a:srgbClr val="F57F7B"/>
    <a:srgbClr val="A04325"/>
    <a:srgbClr val="AF0B0A"/>
    <a:srgbClr val="D30001"/>
    <a:srgbClr val="A70304"/>
    <a:srgbClr val="0255A0"/>
    <a:srgbClr val="025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 autoAdjust="0"/>
    <p:restoredTop sz="94557" autoAdjust="0"/>
  </p:normalViewPr>
  <p:slideViewPr>
    <p:cSldViewPr snapToGrid="0" snapToObjects="1" showGuides="1">
      <p:cViewPr varScale="1">
        <p:scale>
          <a:sx n="21" d="100"/>
          <a:sy n="21" d="100"/>
        </p:scale>
        <p:origin x="3888" y="192"/>
      </p:cViewPr>
      <p:guideLst>
        <p:guide orient="horz" pos="13227"/>
        <p:guide pos="9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9F487-D909-430B-900A-B5C19E740019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410E3-C217-4C03-AB6A-12547247C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1pPr>
    <a:lvl2pPr marL="1993026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2pPr>
    <a:lvl3pPr marL="3986052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3pPr>
    <a:lvl4pPr marL="5979079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4pPr>
    <a:lvl5pPr marL="7972105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5pPr>
    <a:lvl6pPr marL="9965131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6pPr>
    <a:lvl7pPr marL="11958157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7pPr>
    <a:lvl8pPr marL="13951184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8pPr>
    <a:lvl9pPr marL="1594421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5400" b="1" dirty="0">
                <a:solidFill>
                  <a:srgbClr val="0D375E"/>
                </a:solidFill>
              </a:rPr>
              <a:t>先说</a:t>
            </a:r>
            <a:r>
              <a:rPr lang="en-US" altLang="zh-CN" sz="5400" b="1" dirty="0">
                <a:solidFill>
                  <a:srgbClr val="0D375E"/>
                </a:solidFill>
              </a:rPr>
              <a:t>single edit</a:t>
            </a:r>
            <a:r>
              <a:rPr lang="zh-CN" altLang="en-US" sz="5400" b="1" dirty="0">
                <a:solidFill>
                  <a:srgbClr val="0D375E"/>
                </a:solidFill>
              </a:rPr>
              <a:t>，再说</a:t>
            </a:r>
            <a:r>
              <a:rPr lang="en-US" altLang="zh-CN" sz="5400" b="1" dirty="0">
                <a:solidFill>
                  <a:srgbClr val="0D375E"/>
                </a:solidFill>
              </a:rPr>
              <a:t>sequential edit</a:t>
            </a:r>
            <a:r>
              <a:rPr lang="zh-CN" altLang="en-US" sz="5400" b="1" dirty="0">
                <a:solidFill>
                  <a:srgbClr val="0D375E"/>
                </a:solidFill>
              </a:rPr>
              <a:t>普遍会崩溃，纯文字，深色背景，图不要放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en-US" altLang="zh-CN" sz="5400" b="1" dirty="0">
                <a:solidFill>
                  <a:srgbClr val="0D375E"/>
                </a:solidFill>
              </a:rPr>
              <a:t>Intro</a:t>
            </a:r>
            <a:r>
              <a:rPr lang="zh-CN" altLang="en-US" sz="5400" b="1" dirty="0">
                <a:solidFill>
                  <a:srgbClr val="0D375E"/>
                </a:solidFill>
              </a:rPr>
              <a:t>的放在</a:t>
            </a:r>
            <a:r>
              <a:rPr lang="en-US" altLang="zh-CN" sz="5400" b="1" dirty="0">
                <a:solidFill>
                  <a:srgbClr val="0D375E"/>
                </a:solidFill>
              </a:rPr>
              <a:t>pilot observation</a:t>
            </a:r>
          </a:p>
          <a:p>
            <a:r>
              <a:rPr lang="zh-CN" altLang="en-US" sz="5400" b="1" dirty="0">
                <a:solidFill>
                  <a:srgbClr val="0D375E"/>
                </a:solidFill>
              </a:rPr>
              <a:t>文字上补充</a:t>
            </a:r>
            <a:r>
              <a:rPr lang="en-US" altLang="zh-CN" sz="5400" b="1" dirty="0">
                <a:solidFill>
                  <a:srgbClr val="0D375E"/>
                </a:solidFill>
              </a:rPr>
              <a:t>ROME</a:t>
            </a:r>
            <a:r>
              <a:rPr lang="zh-CN" altLang="en-US" sz="5400" b="1" dirty="0">
                <a:solidFill>
                  <a:srgbClr val="0D375E"/>
                </a:solidFill>
              </a:rPr>
              <a:t>对其他都是崩溃的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zh-CN" altLang="en-US" sz="5400" b="1" dirty="0">
                <a:solidFill>
                  <a:srgbClr val="0D375E"/>
                </a:solidFill>
              </a:rPr>
              <a:t>如何检测崩溃的发生，再用</a:t>
            </a:r>
            <a:r>
              <a:rPr lang="en-US" altLang="zh-CN" sz="5400" b="1" dirty="0">
                <a:solidFill>
                  <a:srgbClr val="0D375E"/>
                </a:solidFill>
              </a:rPr>
              <a:t>ppl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410E3-C217-4C03-AB6A-12547247CB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110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9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6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03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7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4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0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7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80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31/10/2025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1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emf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image" Target="../media/image14.svg"/><Relationship Id="rId25" Type="http://schemas.openxmlformats.org/officeDocument/2006/relationships/image" Target="../media/image22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2.svg"/><Relationship Id="rId23" Type="http://schemas.openxmlformats.org/officeDocument/2006/relationships/image" Target="../media/image20.png"/><Relationship Id="rId28" Type="http://schemas.openxmlformats.org/officeDocument/2006/relationships/image" Target="../media/image25.emf"/><Relationship Id="rId10" Type="http://schemas.openxmlformats.org/officeDocument/2006/relationships/image" Target="../media/image7.emf"/><Relationship Id="rId19" Type="http://schemas.openxmlformats.org/officeDocument/2006/relationships/image" Target="../media/image16.svg"/><Relationship Id="rId31" Type="http://schemas.openxmlformats.org/officeDocument/2006/relationships/image" Target="../media/image28.emf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emf"/><Relationship Id="rId30" Type="http://schemas.openxmlformats.org/officeDocument/2006/relationships/image" Target="../media/image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形 80">
            <a:extLst>
              <a:ext uri="{FF2B5EF4-FFF2-40B4-BE49-F238E27FC236}">
                <a16:creationId xmlns:a16="http://schemas.microsoft.com/office/drawing/2014/main" id="{167D60FB-4E25-7AFB-003F-6EC062EA2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3576" y="18153941"/>
            <a:ext cx="880910" cy="880910"/>
          </a:xfrm>
          <a:prstGeom prst="rect">
            <a:avLst/>
          </a:prstGeom>
        </p:spPr>
      </p:pic>
      <p:sp>
        <p:nvSpPr>
          <p:cNvPr id="1032" name="文本框 8">
            <a:extLst>
              <a:ext uri="{FF2B5EF4-FFF2-40B4-BE49-F238E27FC236}">
                <a16:creationId xmlns:a16="http://schemas.microsoft.com/office/drawing/2014/main" id="{A80913A7-8C66-FBF2-65EA-9DD7B82816D6}"/>
              </a:ext>
            </a:extLst>
          </p:cNvPr>
          <p:cNvSpPr txBox="1"/>
          <p:nvPr/>
        </p:nvSpPr>
        <p:spPr>
          <a:xfrm>
            <a:off x="0" y="366418"/>
            <a:ext cx="30275213" cy="580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fr-FR" altLang="zh-CN" sz="6800" b="1" dirty="0" err="1">
                <a:latin typeface="Helvetica" pitchFamily="2" charset="0"/>
              </a:rPr>
              <a:t>Too</a:t>
            </a:r>
            <a:r>
              <a:rPr lang="fr-FR" altLang="zh-CN" sz="6800" b="1" dirty="0">
                <a:latin typeface="Helvetica" pitchFamily="2" charset="0"/>
              </a:rPr>
              <a:t> Consistent to </a:t>
            </a:r>
            <a:r>
              <a:rPr lang="fr-FR" altLang="zh-CN" sz="6800" b="1" dirty="0" err="1">
                <a:latin typeface="Helvetica" pitchFamily="2" charset="0"/>
              </a:rPr>
              <a:t>Detect</a:t>
            </a:r>
            <a:r>
              <a:rPr lang="fr-FR" altLang="zh-CN" sz="6800" b="1" dirty="0">
                <a:latin typeface="Helvetica" pitchFamily="2" charset="0"/>
              </a:rPr>
              <a:t>: A </a:t>
            </a:r>
            <a:r>
              <a:rPr lang="fr-FR" altLang="zh-CN" sz="6800" b="1" dirty="0" err="1">
                <a:latin typeface="Helvetica" pitchFamily="2" charset="0"/>
              </a:rPr>
              <a:t>Study</a:t>
            </a:r>
            <a:r>
              <a:rPr lang="fr-FR" altLang="zh-CN" sz="6800" b="1" dirty="0">
                <a:latin typeface="Helvetica" pitchFamily="2" charset="0"/>
              </a:rPr>
              <a:t> of </a:t>
            </a:r>
            <a:r>
              <a:rPr lang="fr-FR" altLang="zh-CN" sz="6800" b="1" dirty="0">
                <a:solidFill>
                  <a:srgbClr val="C00000"/>
                </a:solidFill>
                <a:latin typeface="Chalkboard" panose="03050602040202020205" pitchFamily="66" charset="0"/>
                <a:ea typeface="Ayuthaya" pitchFamily="2" charset="-34"/>
                <a:cs typeface="Ayuthaya" pitchFamily="2" charset="-34"/>
              </a:rPr>
              <a:t>Self-Consistent </a:t>
            </a:r>
            <a:r>
              <a:rPr lang="fr-FR" altLang="zh-CN" sz="6800" b="1" dirty="0" err="1">
                <a:solidFill>
                  <a:srgbClr val="C00000"/>
                </a:solidFill>
                <a:latin typeface="Chalkboard" panose="03050602040202020205" pitchFamily="66" charset="0"/>
                <a:ea typeface="Ayuthaya" pitchFamily="2" charset="-34"/>
                <a:cs typeface="Ayuthaya" pitchFamily="2" charset="-34"/>
              </a:rPr>
              <a:t>Errors</a:t>
            </a:r>
            <a:r>
              <a:rPr lang="fr-FR" altLang="zh-CN" sz="6800" b="1" dirty="0">
                <a:latin typeface="Helvetica" pitchFamily="2" charset="0"/>
              </a:rPr>
              <a:t> in </a:t>
            </a:r>
            <a:r>
              <a:rPr lang="fr-FR" altLang="zh-CN" sz="6800" b="1" dirty="0" err="1">
                <a:latin typeface="Helvetica" pitchFamily="2" charset="0"/>
              </a:rPr>
              <a:t>LLMs</a:t>
            </a:r>
            <a:r>
              <a:rPr lang="fr-FR" altLang="zh-CN" sz="6800" b="1" dirty="0">
                <a:latin typeface="Helvetica" pitchFamily="2" charset="0"/>
              </a:rPr>
              <a:t> </a:t>
            </a:r>
          </a:p>
          <a:p>
            <a:pPr algn="ctr">
              <a:lnSpc>
                <a:spcPct val="110000"/>
              </a:lnSpc>
              <a:spcBef>
                <a:spcPts val="1800"/>
              </a:spcBef>
            </a:pP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Hexiang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Tan, Fei Sun</a:t>
            </a:r>
            <a:r>
              <a:rPr lang="zh-CN" altLang="en-US" sz="5400" i="1" dirty="0">
                <a:solidFill>
                  <a:srgbClr val="222222"/>
                </a:solidFill>
                <a:latin typeface="Helvetica" pitchFamily="2" charset="0"/>
              </a:rPr>
              <a:t>  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, </a:t>
            </a: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Sha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Liu, Du Su, Qi Cao, Xin Chen, </a:t>
            </a: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Jingang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Wang, </a:t>
            </a:r>
          </a:p>
          <a:p>
            <a:pPr algn="ctr">
              <a:lnSpc>
                <a:spcPct val="110000"/>
              </a:lnSpc>
            </a:pP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Xunliang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Cai, </a:t>
            </a: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Yuanzhuo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Wang, Huawei Shen, </a:t>
            </a:r>
            <a:r>
              <a:rPr lang="fr-FR" altLang="zh-CN" sz="5400" i="1" dirty="0" err="1">
                <a:solidFill>
                  <a:srgbClr val="222222"/>
                </a:solidFill>
                <a:effectLst/>
                <a:latin typeface="Helvetica" pitchFamily="2" charset="0"/>
              </a:rPr>
              <a:t>Xueqi</a:t>
            </a:r>
            <a:r>
              <a:rPr lang="fr-FR" altLang="zh-CN" sz="5400" i="1" dirty="0">
                <a:solidFill>
                  <a:srgbClr val="222222"/>
                </a:solidFill>
                <a:effectLst/>
                <a:latin typeface="Helvetica" pitchFamily="2" charset="0"/>
              </a:rPr>
              <a:t> Cheng </a:t>
            </a:r>
          </a:p>
          <a:p>
            <a:pPr algn="ctr">
              <a:lnSpc>
                <a:spcPct val="110000"/>
              </a:lnSpc>
              <a:spcBef>
                <a:spcPts val="1800"/>
              </a:spcBef>
            </a:pPr>
            <a:r>
              <a:rPr lang="en-US" altLang="zh-CN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      State Key Laboratory of AI Safety,</a:t>
            </a:r>
            <a:r>
              <a:rPr lang="zh-CN" altLang="en-US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ICT, CAS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</a:pPr>
            <a:r>
              <a:rPr lang="en-US" altLang="zh-CN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          University of Chinese Academy of Sciences</a:t>
            </a:r>
            <a:r>
              <a:rPr lang="zh-CN" altLang="en-US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  <a:r>
              <a:rPr lang="fr-FR" altLang="zh-CN" sz="4400" dirty="0" err="1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Meituan</a:t>
            </a:r>
            <a:r>
              <a:rPr lang="zh-CN" altLang="en-US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                                                   </a:t>
            </a:r>
          </a:p>
          <a:p>
            <a:pPr algn="ctr">
              <a:spcBef>
                <a:spcPts val="1200"/>
              </a:spcBef>
            </a:pPr>
            <a:r>
              <a:rPr lang="en-US" altLang="zh-CN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     tanhexiang21s@ict.ac.cn</a:t>
            </a:r>
            <a:r>
              <a:rPr lang="zh-CN" altLang="en-US" sz="4400" dirty="0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    </a:t>
            </a:r>
            <a:r>
              <a:rPr lang="en-US" altLang="zh-CN" sz="4400" dirty="0" err="1">
                <a:latin typeface="Helvetica" pitchFamily="2" charset="0"/>
                <a:ea typeface="Verdana" panose="020B0604030504040204" pitchFamily="34" charset="0"/>
                <a:cs typeface="Helvetica" panose="020B0604020202020204" pitchFamily="34" charset="0"/>
              </a:rPr>
              <a:t>sunfei@ict.ac.cn</a:t>
            </a:r>
            <a:endParaRPr lang="en-US" altLang="zh-CN" sz="4400" dirty="0">
              <a:latin typeface="Helvetica" pitchFamily="2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33" name="对象 32">
            <a:hlinkClick r:id="" action="ppaction://ole?verb=0"/>
            <a:extLst>
              <a:ext uri="{FF2B5EF4-FFF2-40B4-BE49-F238E27FC236}">
                <a16:creationId xmlns:a16="http://schemas.microsoft.com/office/drawing/2014/main" id="{1CFEF39E-9BED-4F07-DF42-D1DAC59CC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660387"/>
              </p:ext>
            </p:extLst>
          </p:nvPr>
        </p:nvGraphicFramePr>
        <p:xfrm>
          <a:off x="26787998" y="1804265"/>
          <a:ext cx="2303993" cy="1897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858000" imgH="5645150" progId="Package">
                  <p:embed/>
                </p:oleObj>
              </mc:Choice>
              <mc:Fallback>
                <p:oleObj r:id="rId5" imgW="6858000" imgH="5645150" progId="Package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87998" y="1804265"/>
                        <a:ext cx="2303993" cy="1897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矩形: 圆角 13">
            <a:extLst>
              <a:ext uri="{FF2B5EF4-FFF2-40B4-BE49-F238E27FC236}">
                <a16:creationId xmlns:a16="http://schemas.microsoft.com/office/drawing/2014/main" id="{1A7DB95B-35ED-FF15-AB01-A3E1AB0ABF87}"/>
              </a:ext>
            </a:extLst>
          </p:cNvPr>
          <p:cNvSpPr/>
          <p:nvPr/>
        </p:nvSpPr>
        <p:spPr>
          <a:xfrm>
            <a:off x="437603" y="25836693"/>
            <a:ext cx="14131100" cy="2213585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Current Methods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  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  <a:p>
            <a:pPr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Fail to Detect Them!</a:t>
            </a:r>
            <a:endParaRPr kumimoji="0" lang="en-US" altLang="zh-CN" sz="54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E8041-71C4-2151-3BFB-BF189DB3F809}"/>
              </a:ext>
            </a:extLst>
          </p:cNvPr>
          <p:cNvSpPr/>
          <p:nvPr/>
        </p:nvSpPr>
        <p:spPr>
          <a:xfrm>
            <a:off x="231207" y="25658155"/>
            <a:ext cx="14704564" cy="9960744"/>
          </a:xfrm>
          <a:prstGeom prst="rect">
            <a:avLst/>
          </a:prstGeom>
          <a:noFill/>
          <a:ln w="635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13B65E-1920-B815-A14D-EF3CCE3BC1A7}"/>
              </a:ext>
            </a:extLst>
          </p:cNvPr>
          <p:cNvSpPr/>
          <p:nvPr/>
        </p:nvSpPr>
        <p:spPr>
          <a:xfrm>
            <a:off x="15190528" y="25658155"/>
            <a:ext cx="14704564" cy="16371321"/>
          </a:xfrm>
          <a:prstGeom prst="rect">
            <a:avLst/>
          </a:prstGeom>
          <a:noFill/>
          <a:ln w="635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063E70-832A-B144-B82A-5E4DE5482224}"/>
              </a:ext>
            </a:extLst>
          </p:cNvPr>
          <p:cNvSpPr/>
          <p:nvPr/>
        </p:nvSpPr>
        <p:spPr>
          <a:xfrm>
            <a:off x="15237170" y="6568841"/>
            <a:ext cx="14704564" cy="12901574"/>
          </a:xfrm>
          <a:prstGeom prst="rect">
            <a:avLst/>
          </a:prstGeom>
          <a:noFill/>
          <a:ln w="635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FBA687-9122-8408-2AD2-E3F83485CC8F}"/>
              </a:ext>
            </a:extLst>
          </p:cNvPr>
          <p:cNvSpPr/>
          <p:nvPr/>
        </p:nvSpPr>
        <p:spPr>
          <a:xfrm>
            <a:off x="286586" y="6568842"/>
            <a:ext cx="14704567" cy="15451786"/>
          </a:xfrm>
          <a:prstGeom prst="rect">
            <a:avLst/>
          </a:prstGeom>
          <a:noFill/>
          <a:ln w="635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107C7E-220E-623F-410D-B548124D706D}"/>
              </a:ext>
            </a:extLst>
          </p:cNvPr>
          <p:cNvSpPr/>
          <p:nvPr/>
        </p:nvSpPr>
        <p:spPr>
          <a:xfrm>
            <a:off x="498563" y="6837926"/>
            <a:ext cx="14307988" cy="1230678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WHAT is Self-Consistent Error?</a:t>
            </a:r>
            <a:endParaRPr kumimoji="0" lang="en-US" altLang="zh-CN" sz="50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5DFD28A-98BC-CF41-BCF0-4021516CE804}"/>
              </a:ext>
            </a:extLst>
          </p:cNvPr>
          <p:cNvSpPr txBox="1"/>
          <p:nvPr/>
        </p:nvSpPr>
        <p:spPr>
          <a:xfrm>
            <a:off x="-3017520" y="4137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FABDF98B-E913-DB48-8210-D45A36615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592" y="23508929"/>
            <a:ext cx="2296658" cy="10321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57D7C93-F6B1-8744-895F-A9093CCE6D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81425" y="22782140"/>
            <a:ext cx="1177732" cy="117773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7819C4D-B842-174D-B697-63E8CC0268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48044" y="23992151"/>
            <a:ext cx="2444494" cy="100224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3244233-9B5C-0A4C-94A8-D8B23566A6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2160" y="1842846"/>
            <a:ext cx="369882" cy="264201"/>
          </a:xfrm>
          <a:prstGeom prst="rect">
            <a:avLst/>
          </a:prstGeom>
        </p:spPr>
      </p:pic>
      <p:sp>
        <p:nvSpPr>
          <p:cNvPr id="2" name="矩形: 圆角 13">
            <a:extLst>
              <a:ext uri="{FF2B5EF4-FFF2-40B4-BE49-F238E27FC236}">
                <a16:creationId xmlns:a16="http://schemas.microsoft.com/office/drawing/2014/main" id="{58B9F640-8D06-73B5-1878-0A128BA430DA}"/>
              </a:ext>
            </a:extLst>
          </p:cNvPr>
          <p:cNvSpPr/>
          <p:nvPr/>
        </p:nvSpPr>
        <p:spPr>
          <a:xfrm>
            <a:off x="15474462" y="6837925"/>
            <a:ext cx="14302188" cy="1230679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small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WHY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Self-Consistent Error Matters?</a:t>
            </a:r>
            <a:endParaRPr kumimoji="0" lang="en-US" altLang="zh-CN" sz="50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29" name="矩形: 圆角 13">
            <a:extLst>
              <a:ext uri="{FF2B5EF4-FFF2-40B4-BE49-F238E27FC236}">
                <a16:creationId xmlns:a16="http://schemas.microsoft.com/office/drawing/2014/main" id="{A80AA031-E6DE-FF68-EE33-A0D76BAD0617}"/>
              </a:ext>
            </a:extLst>
          </p:cNvPr>
          <p:cNvSpPr/>
          <p:nvPr/>
        </p:nvSpPr>
        <p:spPr>
          <a:xfrm>
            <a:off x="15251489" y="25888340"/>
            <a:ext cx="14437306" cy="2138146"/>
          </a:xfrm>
          <a:prstGeom prst="roundRect">
            <a:avLst/>
          </a:prstGeom>
          <a:solidFill>
            <a:srgbClr val="AD0204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                                  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 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Cross-Model Probe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                                      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等线" panose="02010600030101010101" pitchFamily="2" charset="-122"/>
                <a:cs typeface="Helvetica" panose="020B0604020202020204" pitchFamily="34" charset="0"/>
              </a:rPr>
              <a:t>Helps!</a:t>
            </a:r>
            <a:endParaRPr kumimoji="0" lang="en-US" altLang="zh-CN" sz="5400" b="1" i="0" u="none" strike="noStrike" kern="1200" cap="small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itchFamily="2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BE37699-E4EA-7C96-9CE1-6F19CADFE185}"/>
              </a:ext>
            </a:extLst>
          </p:cNvPr>
          <p:cNvSpPr>
            <a:spLocks/>
          </p:cNvSpPr>
          <p:nvPr/>
        </p:nvSpPr>
        <p:spPr>
          <a:xfrm>
            <a:off x="6060972" y="18637805"/>
            <a:ext cx="17792476" cy="9716400"/>
          </a:xfrm>
          <a:prstGeom prst="ellipse">
            <a:avLst/>
          </a:prstGeom>
          <a:solidFill>
            <a:srgbClr val="FFFFFF"/>
          </a:solidFill>
          <a:ln w="635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E469181-4FC8-582E-5A9D-C363B9B7A6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22772" y="18996005"/>
                <a:ext cx="17031726" cy="9000000"/>
              </a:xfrm>
              <a:prstGeom prst="ellipse">
                <a:avLst/>
              </a:prstGeom>
              <a:solidFill>
                <a:srgbClr val="AD010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0000"/>
                  </a:lnSpc>
                  <a:spcBef>
                    <a:spcPts val="1200"/>
                  </a:spcBef>
                </a:pPr>
                <a:r>
                  <a:rPr lang="en-US" altLang="zh-CN" sz="16600" b="1" dirty="0">
                    <a:solidFill>
                      <a:schemeClr val="bg1"/>
                    </a:solidFill>
                    <a:latin typeface="Chalkboard" panose="03050602040202020205" pitchFamily="66" charset="0"/>
                    <a:ea typeface="等线" panose="02010600030101010101" pitchFamily="2" charset="-122"/>
                    <a:cs typeface="Helvetica" panose="020B0604020202020204" pitchFamily="34" charset="0"/>
                  </a:rPr>
                  <a:t>Consistent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600" b="1" dirty="0">
                    <a:solidFill>
                      <a:schemeClr val="bg1"/>
                    </a:solidFill>
                    <a:latin typeface="Chalkboard" panose="03050602040202020205" pitchFamily="66" charset="0"/>
                    <a:ea typeface="等线" panose="02010600030101010101" pitchFamily="2" charset="-122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≠</m:t>
                    </m:r>
                  </m:oMath>
                </a14:m>
                <a:r>
                  <a:rPr lang="en-US" altLang="zh-CN" sz="16600" b="1" dirty="0">
                    <a:solidFill>
                      <a:schemeClr val="bg1"/>
                    </a:solidFill>
                    <a:latin typeface="Chalkboard" panose="03050602040202020205" pitchFamily="66" charset="0"/>
                    <a:ea typeface="等线" panose="02010600030101010101" pitchFamily="2" charset="-122"/>
                    <a:cs typeface="Helvetica" panose="020B0604020202020204" pitchFamily="34" charset="0"/>
                  </a:rPr>
                  <a:t>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6600" b="1" dirty="0">
                    <a:solidFill>
                      <a:schemeClr val="bg1"/>
                    </a:solidFill>
                    <a:latin typeface="Chalkboard" panose="03050602040202020205" pitchFamily="66" charset="0"/>
                    <a:ea typeface="等线" panose="02010600030101010101" pitchFamily="2" charset="-122"/>
                    <a:cs typeface="Helvetica" panose="020B0604020202020204" pitchFamily="34" charset="0"/>
                  </a:rPr>
                  <a:t>Correct</a:t>
                </a:r>
                <a:endParaRPr kumimoji="0" lang="en-US" altLang="zh-CN" sz="19900" b="1" i="0" u="none" strike="noStrike" kern="1200" cap="small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halkboard" panose="03050602040202020205" pitchFamily="66" charset="0"/>
                  <a:ea typeface="等线" panose="02010600030101010101" pitchFamily="2" charset="-122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BE469181-4FC8-582E-5A9D-C363B9B7A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772" y="18996005"/>
                <a:ext cx="17031726" cy="900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>
            <a:extLst>
              <a:ext uri="{FF2B5EF4-FFF2-40B4-BE49-F238E27FC236}">
                <a16:creationId xmlns:a16="http://schemas.microsoft.com/office/drawing/2014/main" id="{0E5C42BE-77D0-4574-5ED2-88F59C632B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6849" y="4721909"/>
            <a:ext cx="7761765" cy="127660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31A360F-3325-0822-7018-C8AB6DBC75D1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62263"/>
          <a:stretch/>
        </p:blipFill>
        <p:spPr>
          <a:xfrm>
            <a:off x="484311" y="1842846"/>
            <a:ext cx="2303993" cy="2207342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410AD849-441C-3A42-3CCD-5A82E3C3CB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6641752" y="3784646"/>
            <a:ext cx="2750786" cy="2649654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76501994-9378-59F6-843D-C47657E65FB1}"/>
              </a:ext>
            </a:extLst>
          </p:cNvPr>
          <p:cNvSpPr txBox="1"/>
          <p:nvPr/>
        </p:nvSpPr>
        <p:spPr>
          <a:xfrm>
            <a:off x="498563" y="8141529"/>
            <a:ext cx="139742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Numerous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error detection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methods rely on measuring consistency across multiple samples, under assuming that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“consistent outputs are more likely to be correct”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b="1" u="sng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Self-consistent errors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:  cases where LLMs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consistently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generate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semantically equivalent errors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across multiple stochastic samples.</a:t>
            </a: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Semantic equivalence: mutually entail each other with NLI.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B46A33-B169-AECF-E16C-3FC63A4100A8}"/>
              </a:ext>
            </a:extLst>
          </p:cNvPr>
          <p:cNvSpPr txBox="1"/>
          <p:nvPr/>
        </p:nvSpPr>
        <p:spPr>
          <a:xfrm>
            <a:off x="-2886" y="18472013"/>
            <a:ext cx="13974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2400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Some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cases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show the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potential causes</a:t>
            </a:r>
            <a:r>
              <a:rPr lang="en-US" altLang="zh-CN" sz="4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</a:p>
          <a:p>
            <a:pPr marL="572400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these errors, including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pervasive </a:t>
            </a:r>
          </a:p>
          <a:p>
            <a:pPr marL="572400">
              <a:buSzPct val="60000"/>
            </a:pP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misconceptions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on the internet</a:t>
            </a:r>
          </a:p>
          <a:p>
            <a:pPr marL="572400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conceptual confusions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572400">
              <a:buSzPct val="60000"/>
            </a:pPr>
            <a:endParaRPr lang="en-US" altLang="zh-CN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A9DEA9D-871D-5AA9-EC0E-E29C478EEC1B}"/>
              </a:ext>
            </a:extLst>
          </p:cNvPr>
          <p:cNvSpPr txBox="1"/>
          <p:nvPr/>
        </p:nvSpPr>
        <p:spPr>
          <a:xfrm>
            <a:off x="15638450" y="13979211"/>
            <a:ext cx="13974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Number of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self-consistent errors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remains relatively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stable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 or even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slightly increases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Number of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inconsistent errors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markedly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decrease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as models scale up.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C99C6CF-5C04-3FD0-3E5B-B359BE6EA73C}"/>
              </a:ext>
            </a:extLst>
          </p:cNvPr>
          <p:cNvSpPr txBox="1"/>
          <p:nvPr/>
        </p:nvSpPr>
        <p:spPr>
          <a:xfrm>
            <a:off x="15574015" y="17199733"/>
            <a:ext cx="13974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2400" algn="just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Self-consistent errors may remain a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persistent challenge and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become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more concerning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as LLMs continue to scale.</a:t>
            </a:r>
          </a:p>
          <a:p>
            <a:pPr marL="572400" algn="just">
              <a:buSzPct val="60000"/>
            </a:pPr>
            <a:endParaRPr lang="en-US" altLang="zh-CN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2500947-BC7F-14B9-2CBB-3278E3C13003}"/>
              </a:ext>
            </a:extLst>
          </p:cNvPr>
          <p:cNvSpPr txBox="1"/>
          <p:nvPr/>
        </p:nvSpPr>
        <p:spPr>
          <a:xfrm>
            <a:off x="363697" y="28484952"/>
            <a:ext cx="1430798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Evaluate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four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types of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mainstream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error detection methods,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Probability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P(True)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emantic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ntropy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), and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Probe:</a:t>
            </a:r>
            <a:endParaRPr lang="en-US" altLang="zh-CN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Perform 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well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on 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zh-CN" sz="4000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nconsistent 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lang="en-US" altLang="zh-CN" sz="4000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rrors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subsets), AUROC up to </a:t>
            </a:r>
            <a:r>
              <a:rPr lang="en-US" altLang="zh-CN" sz="4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~90%.</a:t>
            </a: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methods suffer a substantial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performance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degradation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on </a:t>
            </a: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onsistent </a:t>
            </a: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rrors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subsets).</a:t>
            </a:r>
          </a:p>
          <a:p>
            <a:pPr marL="571500" indent="-571500" algn="just">
              <a:spcBef>
                <a:spcPts val="2400"/>
              </a:spcBef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SE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which performs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among training-free methods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on IE subsets, exhibits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the most dramatic decline on CE subsets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, performing at or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below random guessing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86" name="图形 85">
            <a:extLst>
              <a:ext uri="{FF2B5EF4-FFF2-40B4-BE49-F238E27FC236}">
                <a16:creationId xmlns:a16="http://schemas.microsoft.com/office/drawing/2014/main" id="{8D2264AA-4015-F9D7-8F46-37073A17C1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22780" y="35064386"/>
            <a:ext cx="1346831" cy="811152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668AF110-18DE-5D5C-D6D5-3BD7538B4672}"/>
              </a:ext>
            </a:extLst>
          </p:cNvPr>
          <p:cNvSpPr txBox="1"/>
          <p:nvPr/>
        </p:nvSpPr>
        <p:spPr>
          <a:xfrm>
            <a:off x="15638448" y="28846250"/>
            <a:ext cx="60204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60000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Self-consistent errors are often </a:t>
            </a:r>
            <a:r>
              <a:rPr lang="en-US" altLang="zh-CN" sz="40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model-specific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rarely overlap across different verifiers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B795F01-3706-1DE4-69B3-607FA79582C9}"/>
              </a:ext>
            </a:extLst>
          </p:cNvPr>
          <p:cNvSpPr/>
          <p:nvPr/>
        </p:nvSpPr>
        <p:spPr>
          <a:xfrm>
            <a:off x="15418328" y="32821621"/>
            <a:ext cx="14264885" cy="4394045"/>
          </a:xfrm>
          <a:prstGeom prst="rect">
            <a:avLst/>
          </a:prstGeom>
          <a:noFill/>
          <a:ln w="63500">
            <a:solidFill>
              <a:schemeClr val="tx1"/>
            </a:solidFill>
            <a:prstDash val="dash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381AE3A-6263-8C33-4732-BA59ECFF5BA6}"/>
              </a:ext>
            </a:extLst>
          </p:cNvPr>
          <p:cNvSpPr txBox="1"/>
          <p:nvPr/>
        </p:nvSpPr>
        <p:spPr>
          <a:xfrm>
            <a:off x="22432244" y="20066820"/>
            <a:ext cx="75552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5400" dirty="0">
                <a:latin typeface="Chalkboard" panose="03050602040202020205" pitchFamily="66" charset="0"/>
              </a:rPr>
              <a:t>Feel Free to Contact Us</a:t>
            </a:r>
          </a:p>
          <a:p>
            <a:pPr algn="r"/>
            <a:r>
              <a:rPr kumimoji="1" lang="en-US" altLang="zh-CN" sz="5400" dirty="0">
                <a:latin typeface="Chalkboard" panose="03050602040202020205" pitchFamily="66" charset="0"/>
              </a:rPr>
              <a:t>For Any Question!</a:t>
            </a:r>
            <a:endParaRPr kumimoji="1" lang="zh-CN" altLang="en-US" sz="5400" dirty="0">
              <a:latin typeface="Chalkboard" panose="03050602040202020205" pitchFamily="66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42EBDFE4-00F5-B82A-CE27-7ED752FA57F9}"/>
              </a:ext>
            </a:extLst>
          </p:cNvPr>
          <p:cNvSpPr txBox="1"/>
          <p:nvPr/>
        </p:nvSpPr>
        <p:spPr>
          <a:xfrm>
            <a:off x="15638449" y="32834394"/>
            <a:ext cx="137540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60000"/>
            </a:pPr>
            <a:r>
              <a:rPr lang="fr-FR" altLang="zh-CN" sz="4000" b="1" dirty="0">
                <a:solidFill>
                  <a:srgbClr val="C00000"/>
                </a:solidFill>
                <a:latin typeface="Chalkboard" panose="03050602040202020205" pitchFamily="66" charset="0"/>
              </a:rPr>
              <a:t>Cross-Model Probe</a:t>
            </a:r>
            <a:r>
              <a:rPr lang="fr-FR" altLang="zh-CN" sz="4000" dirty="0">
                <a:latin typeface="Helvetica" pitchFamily="2" charset="0"/>
              </a:rPr>
              <a:t>: </a:t>
            </a:r>
            <a:r>
              <a:rPr lang="fr-FR" altLang="zh-CN" sz="4000" dirty="0" err="1">
                <a:latin typeface="Helvetica" pitchFamily="2" charset="0"/>
              </a:rPr>
              <a:t>feeds</a:t>
            </a:r>
            <a:r>
              <a:rPr lang="fr-FR" altLang="zh-CN" sz="4000" dirty="0">
                <a:latin typeface="Helvetica" pitchFamily="2" charset="0"/>
              </a:rPr>
              <a:t> the </a:t>
            </a:r>
            <a:r>
              <a:rPr lang="fr-FR" altLang="zh-CN" sz="4000" dirty="0" err="1">
                <a:latin typeface="Helvetica" pitchFamily="2" charset="0"/>
              </a:rPr>
              <a:t>response</a:t>
            </a:r>
            <a:r>
              <a:rPr lang="fr-FR" altLang="zh-CN" sz="4000" dirty="0">
                <a:latin typeface="Helvetica" pitchFamily="2" charset="0"/>
              </a:rPr>
              <a:t> to an </a:t>
            </a:r>
            <a:r>
              <a:rPr lang="fr-FR" altLang="zh-CN" sz="4000" b="1" dirty="0" err="1">
                <a:latin typeface="Helvetica" pitchFamily="2" charset="0"/>
              </a:rPr>
              <a:t>external</a:t>
            </a:r>
            <a:r>
              <a:rPr lang="fr-FR" altLang="zh-CN" sz="4000" dirty="0">
                <a:latin typeface="Helvetica" pitchFamily="2" charset="0"/>
              </a:rPr>
              <a:t> </a:t>
            </a:r>
            <a:r>
              <a:rPr lang="fr-FR" altLang="zh-CN" sz="4000" b="1" dirty="0" err="1">
                <a:latin typeface="Helvetica" pitchFamily="2" charset="0"/>
              </a:rPr>
              <a:t>verifier</a:t>
            </a:r>
            <a:r>
              <a:rPr lang="fr-FR" altLang="zh-CN" sz="4000" dirty="0">
                <a:latin typeface="Helvetica" pitchFamily="2" charset="0"/>
              </a:rPr>
              <a:t>, probes </a:t>
            </a:r>
            <a:r>
              <a:rPr lang="fr-FR" altLang="zh-CN" sz="4000" dirty="0" err="1">
                <a:latin typeface="Helvetica" pitchFamily="2" charset="0"/>
              </a:rPr>
              <a:t>its</a:t>
            </a:r>
            <a:r>
              <a:rPr lang="fr-FR" altLang="zh-CN" sz="4000" dirty="0">
                <a:latin typeface="Helvetica" pitchFamily="2" charset="0"/>
              </a:rPr>
              <a:t> </a:t>
            </a:r>
            <a:r>
              <a:rPr lang="fr-FR" altLang="zh-CN" sz="4000" dirty="0" err="1">
                <a:latin typeface="Helvetica" pitchFamily="2" charset="0"/>
              </a:rPr>
              <a:t>hidden</a:t>
            </a:r>
            <a:r>
              <a:rPr lang="fr-FR" altLang="zh-CN" sz="4000" dirty="0">
                <a:latin typeface="Helvetica" pitchFamily="2" charset="0"/>
              </a:rPr>
              <a:t> states, and fuses </a:t>
            </a:r>
            <a:r>
              <a:rPr lang="fr-FR" altLang="zh-CN" sz="4000" dirty="0" err="1">
                <a:latin typeface="Helvetica" pitchFamily="2" charset="0"/>
              </a:rPr>
              <a:t>that</a:t>
            </a:r>
            <a:r>
              <a:rPr lang="fr-FR" altLang="zh-CN" sz="4000" dirty="0">
                <a:latin typeface="Helvetica" pitchFamily="2" charset="0"/>
              </a:rPr>
              <a:t> signal </a:t>
            </a:r>
            <a:r>
              <a:rPr lang="fr-FR" altLang="zh-CN" sz="4000" dirty="0" err="1">
                <a:latin typeface="Helvetica" pitchFamily="2" charset="0"/>
              </a:rPr>
              <a:t>with</a:t>
            </a:r>
            <a:r>
              <a:rPr lang="fr-FR" altLang="zh-CN" sz="4000" dirty="0">
                <a:latin typeface="Helvetica" pitchFamily="2" charset="0"/>
              </a:rPr>
              <a:t> the original probe.</a:t>
            </a:r>
            <a:endParaRPr lang="en-US" altLang="zh-CN" sz="4000" dirty="0">
              <a:latin typeface="Helvetica" pitchFamily="2" charset="0"/>
              <a:cs typeface="Helvetica" panose="020B0604020202020204" pitchFamily="34" charset="0"/>
            </a:endParaRPr>
          </a:p>
        </p:txBody>
      </p:sp>
      <p:pic>
        <p:nvPicPr>
          <p:cNvPr id="97" name="图形 96">
            <a:extLst>
              <a:ext uri="{FF2B5EF4-FFF2-40B4-BE49-F238E27FC236}">
                <a16:creationId xmlns:a16="http://schemas.microsoft.com/office/drawing/2014/main" id="{B2C337EB-8971-F70E-606D-5C2EC968040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379631" y="31515905"/>
            <a:ext cx="1346831" cy="985778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A0372176-2521-008D-0950-AF77DF75737B}"/>
              </a:ext>
            </a:extLst>
          </p:cNvPr>
          <p:cNvSpPr txBox="1"/>
          <p:nvPr/>
        </p:nvSpPr>
        <p:spPr>
          <a:xfrm>
            <a:off x="18549054" y="31642331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rgbClr val="C00000"/>
                </a:solidFill>
                <a:latin typeface="Helvetica" pitchFamily="2" charset="0"/>
              </a:rPr>
              <a:t>motivate</a:t>
            </a:r>
            <a:endParaRPr kumimoji="1" lang="zh-CN" altLang="en-US" sz="3600" b="1" dirty="0">
              <a:solidFill>
                <a:srgbClr val="C00000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DF3A8B4-A9D4-7B01-4546-E90A7733D276}"/>
                  </a:ext>
                </a:extLst>
              </p:cNvPr>
              <p:cNvSpPr txBox="1"/>
              <p:nvPr/>
            </p:nvSpPr>
            <p:spPr>
              <a:xfrm>
                <a:off x="15737593" y="38185940"/>
                <a:ext cx="553114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SzPct val="60000"/>
                </a:pPr>
                <a:r>
                  <a:rPr lang="en-US" altLang="zh-CN" sz="4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Our cross-model probe </a:t>
                </a:r>
                <a:r>
                  <a:rPr lang="en-US" altLang="zh-CN" sz="4000" b="1" dirty="0">
                    <a:solidFill>
                      <a:srgbClr val="C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outperforms</a:t>
                </a:r>
                <a:r>
                  <a:rPr lang="en-US" altLang="zh-CN" sz="4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best baseline,</a:t>
                </a:r>
                <a:r>
                  <a:rPr lang="zh-CN" altLang="en-US" sz="4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sz="4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across </a:t>
                </a:r>
                <a:r>
                  <a:rPr lang="en-US" altLang="zh-CN" sz="4000" b="1" dirty="0">
                    <a:solidFill>
                      <a:srgbClr val="C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all verifiers</a:t>
                </a:r>
                <a:r>
                  <a:rPr lang="en-US" altLang="zh-CN" sz="4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:r>
                  <a:rPr lang="en-US" altLang="zh-CN" sz="4000" b="1" dirty="0">
                    <a:solidFill>
                      <a:srgbClr val="C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 broad range of </a:t>
                </a:r>
                <a14:m>
                  <m:oMath xmlns:m="http://schemas.openxmlformats.org/officeDocument/2006/math">
                    <m:r>
                      <a:rPr lang="en-US" altLang="zh-CN" sz="4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𝝀</m:t>
                    </m:r>
                  </m:oMath>
                </a14:m>
                <a:endParaRPr lang="en-US" altLang="zh-CN" sz="40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DF3A8B4-A9D4-7B01-4546-E90A7733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7593" y="38185940"/>
                <a:ext cx="5531147" cy="3170099"/>
              </a:xfrm>
              <a:prstGeom prst="rect">
                <a:avLst/>
              </a:prstGeom>
              <a:blipFill>
                <a:blip r:embed="rId20"/>
                <a:stretch>
                  <a:fillRect l="-3899" t="-3187" r="-3899" b="-7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图形 99">
            <a:extLst>
              <a:ext uri="{FF2B5EF4-FFF2-40B4-BE49-F238E27FC236}">
                <a16:creationId xmlns:a16="http://schemas.microsoft.com/office/drawing/2014/main" id="{1642C5C4-7712-E8B4-1730-46D4987EC5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14403845" y="39007324"/>
            <a:ext cx="1346831" cy="811152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A2839EE5-23F7-9D59-5C6D-F2E00C9D46A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660088" y="34447387"/>
            <a:ext cx="1207339" cy="1128354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9B55D9E8-0592-BF30-70DE-5F9674CE21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235625" y="40707858"/>
            <a:ext cx="1065276" cy="106527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0E2DC67-D715-05DE-69CB-6A3E7992B67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53251" y="22416668"/>
            <a:ext cx="2706340" cy="27063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B1DFF2D-225A-C9C2-0867-F3EAF340EA3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315622" y="22411782"/>
            <a:ext cx="2706340" cy="27063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32EDC4-7316-2E18-E62E-1DF50134BE7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8599" y="13399669"/>
            <a:ext cx="14170051" cy="45388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D658766-9489-20E0-3F83-21A96454DA8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052030" y="34873631"/>
            <a:ext cx="13340508" cy="217508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6773871-1F97-4401-0797-79DAAABE027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638449" y="8363350"/>
            <a:ext cx="14231872" cy="540284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68E58F9-B8A3-FF3A-C5FB-C5DF22C20FD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6585" y="35862937"/>
            <a:ext cx="14704563" cy="632488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E825C7C-8D82-5D99-B166-9A3D634D91F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658878" y="28472469"/>
            <a:ext cx="7954945" cy="390644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A036990-E6EC-D433-A7C4-BF64C0CAFC8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760429" y="37499598"/>
            <a:ext cx="8070342" cy="436028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C086963-CA52-382E-A4F0-BBDF6CACC28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853448" y="3980850"/>
            <a:ext cx="2303993" cy="23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1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9959</TotalTime>
  <Words>411</Words>
  <Application>Microsoft Macintosh PowerPoint</Application>
  <PresentationFormat>自定义</PresentationFormat>
  <Paragraphs>41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Arial</vt:lpstr>
      <vt:lpstr>Calibri</vt:lpstr>
      <vt:lpstr>Calibri Light</vt:lpstr>
      <vt:lpstr>Cambria Math</vt:lpstr>
      <vt:lpstr>Chalkboard</vt:lpstr>
      <vt:lpstr>Helvetica</vt:lpstr>
      <vt:lpstr>Wingdings</vt:lpstr>
      <vt:lpstr>Office 主题​​</vt:lpstr>
      <vt:lpstr>Package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鹤翔 谭</cp:lastModifiedBy>
  <cp:revision>222</cp:revision>
  <dcterms:created xsi:type="dcterms:W3CDTF">2019-03-03T08:35:39Z</dcterms:created>
  <dcterms:modified xsi:type="dcterms:W3CDTF">2025-10-31T06:53:17Z</dcterms:modified>
</cp:coreProperties>
</file>