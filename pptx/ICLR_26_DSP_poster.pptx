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3"/>
  </p:notesMasterIdLst>
  <p:sldIdLst>
    <p:sldId id="256" r:id="rId2"/>
  </p:sldIdLst>
  <p:sldSz cx="43891200" cy="23774400"/>
  <p:notesSz cx="6858000" cy="9144000"/>
  <p:embeddedFontLst>
    <p:embeddedFont>
      <p:font typeface="Cambria Math" panose="02040503050406030204" pitchFamily="18" charset="0"/>
      <p:regular r:id="rId4"/>
    </p:embeddedFont>
    <p:embeddedFont>
      <p:font typeface="Figtree" pitchFamily="2" charset="0"/>
      <p:regular r:id=""/>
      <p:bold r:id=""/>
      <p:italic r:id=""/>
      <p:boldItalic r:id=""/>
    </p:embeddedFont>
    <p:embeddedFont>
      <p:font typeface="Montserrat ExtraBold" panose="00000900000000000000" pitchFamily="2" charset="0"/>
      <p:bold r:id=""/>
      <p:italic r:id="rId5"/>
      <p:boldItalic r:id="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992">
          <p15:clr>
            <a:srgbClr val="A4A3A4"/>
          </p15:clr>
        </p15:guide>
        <p15:guide id="2" pos="10368">
          <p15:clr>
            <a:srgbClr val="A4A3A4"/>
          </p15:clr>
        </p15:guide>
        <p15:guide id="3" orient="horz" pos="7488">
          <p15:clr>
            <a:srgbClr val="A4A3A4"/>
          </p15:clr>
        </p15:guide>
        <p15:guide id="4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25" d="100"/>
          <a:sy n="25" d="100"/>
        </p:scale>
        <p:origin x="1928" y="888"/>
      </p:cViewPr>
      <p:guideLst>
        <p:guide orient="horz" pos="4992"/>
        <p:guide pos="10368"/>
        <p:guide orient="horz" pos="748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63660" y="685800"/>
            <a:ext cx="6330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6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3525" y="685800"/>
            <a:ext cx="6330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-8005366" y="14764411"/>
            <a:ext cx="5799138" cy="1599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46097428" y="10253971"/>
            <a:ext cx="5799137" cy="1599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53250" y="24141289"/>
            <a:ext cx="12181284" cy="59332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6953250" y="24554039"/>
            <a:ext cx="21945600" cy="9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Template ID: assessingslate  Size: 48x36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image" Target="../media/image13.emf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12" Type="http://schemas.openxmlformats.org/officeDocument/2006/relationships/image" Target="../media/image12.emf"/><Relationship Id="rId17" Type="http://schemas.openxmlformats.org/officeDocument/2006/relationships/image" Target="../media/image17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1.emf"/><Relationship Id="rId5" Type="http://schemas.openxmlformats.org/officeDocument/2006/relationships/image" Target="../media/image5.png"/><Relationship Id="rId15" Type="http://schemas.openxmlformats.org/officeDocument/2006/relationships/image" Target="../media/image15.emf"/><Relationship Id="rId10" Type="http://schemas.openxmlformats.org/officeDocument/2006/relationships/image" Target="../media/image10.emf"/><Relationship Id="rId4" Type="http://schemas.openxmlformats.org/officeDocument/2006/relationships/image" Target="../media/image4.png"/><Relationship Id="rId9" Type="http://schemas.openxmlformats.org/officeDocument/2006/relationships/image" Target="../media/image9.emf"/><Relationship Id="rId14" Type="http://schemas.openxmlformats.org/officeDocument/2006/relationships/image" Target="../media/image1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37194490" y="4041146"/>
            <a:ext cx="5363700" cy="8825400"/>
          </a:xfrm>
          <a:prstGeom prst="roundRect">
            <a:avLst>
              <a:gd name="adj" fmla="val 7509"/>
            </a:avLst>
          </a:prstGeom>
          <a:solidFill>
            <a:schemeClr val="lt1"/>
          </a:solidFill>
          <a:ln w="7620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77950" tIns="77950" rIns="77950" bIns="779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23"/>
              </a:spcBef>
              <a:spcAft>
                <a:spcPts val="1023"/>
              </a:spcAft>
              <a:buNone/>
            </a:pPr>
            <a:endParaRPr sz="938" b="1">
              <a:solidFill>
                <a:schemeClr val="dk1"/>
              </a:solidFill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1227774" y="13297703"/>
            <a:ext cx="20447700" cy="10118147"/>
          </a:xfrm>
          <a:prstGeom prst="roundRect">
            <a:avLst>
              <a:gd name="adj" fmla="val 7509"/>
            </a:avLst>
          </a:prstGeom>
          <a:solidFill>
            <a:schemeClr val="lt1"/>
          </a:solidFill>
          <a:ln w="797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5700" tIns="95700" rIns="95700" bIns="9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  <p:sp>
        <p:nvSpPr>
          <p:cNvPr id="22" name="Google Shape;22;p4"/>
          <p:cNvSpPr/>
          <p:nvPr/>
        </p:nvSpPr>
        <p:spPr>
          <a:xfrm>
            <a:off x="22337575" y="13308809"/>
            <a:ext cx="20293418" cy="10107115"/>
          </a:xfrm>
          <a:prstGeom prst="roundRect">
            <a:avLst>
              <a:gd name="adj" fmla="val 6291"/>
            </a:avLst>
          </a:prstGeom>
          <a:solidFill>
            <a:schemeClr val="lt1"/>
          </a:solidFill>
          <a:ln w="7620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00975" tIns="100975" rIns="100975" bIns="10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46"/>
          </a:p>
        </p:txBody>
      </p:sp>
      <p:sp>
        <p:nvSpPr>
          <p:cNvPr id="23" name="Google Shape;23;p4"/>
          <p:cNvSpPr/>
          <p:nvPr/>
        </p:nvSpPr>
        <p:spPr>
          <a:xfrm>
            <a:off x="22337586" y="4041138"/>
            <a:ext cx="14430000" cy="8825400"/>
          </a:xfrm>
          <a:prstGeom prst="roundRect">
            <a:avLst>
              <a:gd name="adj" fmla="val 5769"/>
            </a:avLst>
          </a:prstGeom>
          <a:solidFill>
            <a:schemeClr val="lt1"/>
          </a:solidFill>
          <a:ln w="7620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77950" tIns="77950" rIns="77950" bIns="77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94"/>
          </a:p>
        </p:txBody>
      </p:sp>
      <p:sp>
        <p:nvSpPr>
          <p:cNvPr id="24" name="Google Shape;24;p4"/>
          <p:cNvSpPr/>
          <p:nvPr/>
        </p:nvSpPr>
        <p:spPr>
          <a:xfrm>
            <a:off x="22588760" y="10119550"/>
            <a:ext cx="13891200" cy="2474700"/>
          </a:xfrm>
          <a:prstGeom prst="roundRect">
            <a:avLst>
              <a:gd name="adj" fmla="val 13089"/>
            </a:avLst>
          </a:prstGeom>
          <a:solidFill>
            <a:srgbClr val="D8F1CD"/>
          </a:solidFill>
          <a:ln w="324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950" tIns="77950" rIns="77950" bIns="77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94"/>
          </a:p>
        </p:txBody>
      </p:sp>
      <p:sp>
        <p:nvSpPr>
          <p:cNvPr id="25" name="Google Shape;25;p4"/>
          <p:cNvSpPr/>
          <p:nvPr/>
        </p:nvSpPr>
        <p:spPr>
          <a:xfrm>
            <a:off x="22588754" y="7645481"/>
            <a:ext cx="13891200" cy="2331900"/>
          </a:xfrm>
          <a:prstGeom prst="roundRect">
            <a:avLst>
              <a:gd name="adj" fmla="val 13089"/>
            </a:avLst>
          </a:prstGeom>
          <a:solidFill>
            <a:srgbClr val="F9E2C1"/>
          </a:solidFill>
          <a:ln w="324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950" tIns="77950" rIns="77950" bIns="77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94"/>
          </a:p>
        </p:txBody>
      </p:sp>
      <p:sp>
        <p:nvSpPr>
          <p:cNvPr id="26" name="Google Shape;26;p4"/>
          <p:cNvSpPr/>
          <p:nvPr/>
        </p:nvSpPr>
        <p:spPr>
          <a:xfrm>
            <a:off x="22588760" y="4835441"/>
            <a:ext cx="13891200" cy="2666700"/>
          </a:xfrm>
          <a:prstGeom prst="roundRect">
            <a:avLst>
              <a:gd name="adj" fmla="val 13089"/>
            </a:avLst>
          </a:prstGeom>
          <a:solidFill>
            <a:srgbClr val="D6EDF2"/>
          </a:solidFill>
          <a:ln w="324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950" tIns="77950" rIns="77950" bIns="77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94"/>
          </a:p>
        </p:txBody>
      </p:sp>
      <p:sp>
        <p:nvSpPr>
          <p:cNvPr id="27" name="Google Shape;27;p4"/>
          <p:cNvSpPr/>
          <p:nvPr/>
        </p:nvSpPr>
        <p:spPr>
          <a:xfrm>
            <a:off x="1303195" y="4461864"/>
            <a:ext cx="20361900" cy="8387742"/>
          </a:xfrm>
          <a:prstGeom prst="roundRect">
            <a:avLst>
              <a:gd name="adj" fmla="val 7914"/>
            </a:avLst>
          </a:prstGeom>
          <a:solidFill>
            <a:schemeClr val="lt1"/>
          </a:solidFill>
          <a:ln w="794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5300" tIns="95300" rIns="95300" bIns="953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59"/>
          </a:p>
        </p:txBody>
      </p:sp>
      <p:sp>
        <p:nvSpPr>
          <p:cNvPr id="28" name="Google Shape;28;p4"/>
          <p:cNvSpPr txBox="1"/>
          <p:nvPr/>
        </p:nvSpPr>
        <p:spPr>
          <a:xfrm>
            <a:off x="0" y="141500"/>
            <a:ext cx="43891200" cy="19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000" tIns="64000" rIns="128000" bIns="640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900" b="1">
                <a:solidFill>
                  <a:srgbClr val="033673"/>
                </a:solidFill>
                <a:latin typeface="Figtree"/>
                <a:ea typeface="Figtree"/>
                <a:cs typeface="Figtree"/>
                <a:sym typeface="Figtree"/>
              </a:rPr>
              <a:t>Dynamic Speculative Agent Planning</a:t>
            </a:r>
            <a:endParaRPr sz="9900" b="1">
              <a:solidFill>
                <a:srgbClr val="033673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0"/>
              <a:buFont typeface="Montserrat ExtraBold"/>
              <a:buNone/>
            </a:pPr>
            <a:endParaRPr sz="8500" b="1">
              <a:solidFill>
                <a:srgbClr val="03367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0" y="1806550"/>
            <a:ext cx="43891200" cy="18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000" tIns="64000" rIns="128000" bIns="640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112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rial"/>
              <a:buNone/>
            </a:pPr>
            <a:r>
              <a:rPr lang="en-US" sz="4100" b="1">
                <a:solidFill>
                  <a:srgbClr val="033673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-US" sz="4900" b="1">
                <a:solidFill>
                  <a:srgbClr val="033673"/>
                </a:solidFill>
                <a:latin typeface="Figtree"/>
                <a:ea typeface="Figtree"/>
                <a:cs typeface="Figtree"/>
                <a:sym typeface="Figtree"/>
              </a:rPr>
              <a:t>Yilin Guan     Qingfeng Lan     Fei Sun      Dujian Ding</a:t>
            </a:r>
            <a:endParaRPr sz="4900" b="1">
              <a:solidFill>
                <a:srgbClr val="033673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112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rial"/>
              <a:buNone/>
            </a:pPr>
            <a:r>
              <a:rPr lang="en-US" sz="4900" b="1">
                <a:solidFill>
                  <a:srgbClr val="033673"/>
                </a:solidFill>
                <a:latin typeface="Figtree"/>
                <a:ea typeface="Figtree"/>
                <a:cs typeface="Figtree"/>
                <a:sym typeface="Figtree"/>
              </a:rPr>
              <a:t>Devang Acharya    Chi Wang    William Yang Wang    Wenyue Hua</a:t>
            </a:r>
            <a:endParaRPr sz="4300" b="1">
              <a:solidFill>
                <a:srgbClr val="033673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3536187" y="11132010"/>
            <a:ext cx="6968400" cy="12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75" tIns="90775" rIns="90775" bIns="9077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191"/>
              </a:spcBef>
              <a:spcAft>
                <a:spcPts val="1191"/>
              </a:spcAft>
              <a:buClr>
                <a:schemeClr val="dk1"/>
              </a:buClr>
              <a:buSzPts val="1147"/>
              <a:buFont typeface="Arial"/>
              <a:buNone/>
            </a:pPr>
            <a:r>
              <a:rPr lang="en-US" sz="4090" b="1" dirty="0">
                <a:solidFill>
                  <a:schemeClr val="bg2"/>
                </a:solidFill>
                <a:latin typeface="Figtree"/>
                <a:ea typeface="Figtree"/>
                <a:cs typeface="Figtree"/>
                <a:sym typeface="Figtree"/>
              </a:rPr>
              <a:t>Too few speculative steps:</a:t>
            </a:r>
            <a:r>
              <a:rPr lang="en-US" sz="4090" dirty="0">
                <a:solidFill>
                  <a:schemeClr val="bg2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-US" sz="4090" dirty="0">
                <a:latin typeface="Figtree"/>
                <a:ea typeface="Figtree"/>
                <a:cs typeface="Figtree"/>
                <a:sym typeface="Figtree"/>
              </a:rPr>
              <a:t>insufficient speedup.</a:t>
            </a:r>
            <a:endParaRPr sz="4090" dirty="0"/>
          </a:p>
        </p:txBody>
      </p:sp>
      <p:sp>
        <p:nvSpPr>
          <p:cNvPr id="33" name="Google Shape;33;p4"/>
          <p:cNvSpPr txBox="1"/>
          <p:nvPr/>
        </p:nvSpPr>
        <p:spPr>
          <a:xfrm>
            <a:off x="12641761" y="11287848"/>
            <a:ext cx="8258400" cy="12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75" tIns="90775" rIns="90775" bIns="9077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1191"/>
              </a:spcBef>
              <a:spcAft>
                <a:spcPts val="0"/>
              </a:spcAft>
              <a:buNone/>
            </a:pPr>
            <a:r>
              <a:rPr lang="en-US" sz="4090" b="1" dirty="0">
                <a:solidFill>
                  <a:schemeClr val="bg2"/>
                </a:solidFill>
                <a:latin typeface="Figtree"/>
                <a:ea typeface="Figtree"/>
                <a:cs typeface="Figtree"/>
                <a:sym typeface="Figtree"/>
              </a:rPr>
              <a:t>Too many speculative steps: </a:t>
            </a:r>
            <a:endParaRPr sz="4090" b="1" dirty="0">
              <a:solidFill>
                <a:schemeClr val="bg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ctr" rtl="0">
              <a:lnSpc>
                <a:spcPct val="80000"/>
              </a:lnSpc>
              <a:spcBef>
                <a:spcPts val="1191"/>
              </a:spcBef>
              <a:spcAft>
                <a:spcPts val="1191"/>
              </a:spcAft>
              <a:buNone/>
            </a:pPr>
            <a:r>
              <a:rPr lang="en-US" sz="4090" dirty="0">
                <a:latin typeface="Figtree"/>
                <a:ea typeface="Figtree"/>
                <a:cs typeface="Figtree"/>
                <a:sym typeface="Figtree"/>
              </a:rPr>
              <a:t>wastes cost if the verifier rejects. </a:t>
            </a:r>
            <a:endParaRPr sz="4090" dirty="0"/>
          </a:p>
        </p:txBody>
      </p:sp>
      <p:sp>
        <p:nvSpPr>
          <p:cNvPr id="35" name="Google Shape;35;p4"/>
          <p:cNvSpPr txBox="1"/>
          <p:nvPr/>
        </p:nvSpPr>
        <p:spPr>
          <a:xfrm>
            <a:off x="16408809" y="15576861"/>
            <a:ext cx="5261440" cy="75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700" tIns="91700" rIns="91700" bIns="91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latin typeface="Figtree"/>
                <a:ea typeface="Figtree"/>
                <a:cs typeface="Figtree"/>
                <a:sym typeface="Figtree"/>
              </a:rPr>
              <a:t>Our Method</a:t>
            </a:r>
            <a:r>
              <a:rPr lang="en-US" sz="4400" b="1" dirty="0"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-US" sz="4400" b="1" dirty="0">
                <a:solidFill>
                  <a:srgbClr val="C00000"/>
                </a:solidFill>
                <a:latin typeface="Figtree"/>
                <a:ea typeface="Figtree"/>
                <a:cs typeface="Figtree"/>
                <a:sym typeface="Figtree"/>
              </a:rPr>
              <a:t>DSP</a:t>
            </a:r>
            <a:endParaRPr sz="4400" b="1" dirty="0">
              <a:solidFill>
                <a:srgbClr val="C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9" b="1" dirty="0">
              <a:latin typeface="Figtree"/>
              <a:ea typeface="Figtree"/>
              <a:cs typeface="Figtree"/>
              <a:sym typeface="Figtree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11"/>
            </a:pPr>
            <a:r>
              <a:rPr lang="en-US" altLang="zh-CN" sz="3711" dirty="0">
                <a:latin typeface="Figtree"/>
                <a:ea typeface="Figtree"/>
                <a:cs typeface="Figtree"/>
                <a:sym typeface="Figtree"/>
              </a:rPr>
              <a:t>1.</a:t>
            </a:r>
            <a:r>
              <a:rPr lang="zh-CN" altLang="en-US" sz="3711" dirty="0"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-US" sz="3711" dirty="0">
                <a:latin typeface="Figtree"/>
                <a:ea typeface="Figtree"/>
                <a:cs typeface="Figtree"/>
                <a:sym typeface="Figtree"/>
              </a:rPr>
              <a:t>Predict k from the current trajectory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11"/>
            </a:pPr>
            <a:r>
              <a:rPr lang="en-US" altLang="zh-CN" sz="3711" dirty="0">
                <a:latin typeface="Figtree"/>
                <a:ea typeface="Figtree"/>
                <a:cs typeface="Figtree"/>
                <a:sym typeface="Figtree"/>
              </a:rPr>
              <a:t>2.</a:t>
            </a:r>
            <a:r>
              <a:rPr lang="zh-CN" altLang="en-US" sz="3711" dirty="0"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-US" sz="3711" dirty="0">
                <a:latin typeface="Figtree"/>
                <a:ea typeface="Figtree"/>
                <a:cs typeface="Figtree"/>
                <a:sym typeface="Figtree"/>
              </a:rPr>
              <a:t>Run approximation and target in parallel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11"/>
            </a:pPr>
            <a:r>
              <a:rPr lang="en-US" altLang="zh-CN" sz="3711" dirty="0">
                <a:latin typeface="Figtree"/>
                <a:ea typeface="Figtree"/>
                <a:cs typeface="Figtree"/>
                <a:sym typeface="Figtree"/>
              </a:rPr>
              <a:t>3.</a:t>
            </a:r>
            <a:r>
              <a:rPr lang="zh-CN" altLang="en-US" sz="3711" dirty="0"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-US" sz="3711" dirty="0">
                <a:latin typeface="Figtree"/>
                <a:ea typeface="Figtree"/>
                <a:cs typeface="Figtree"/>
                <a:sym typeface="Figtree"/>
              </a:rPr>
              <a:t>Cancel on mismatch; train asynchronously online</a:t>
            </a:r>
            <a:endParaRPr sz="3711" dirty="0"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15" dirty="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22739481" y="4176720"/>
            <a:ext cx="83511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950" tIns="77950" rIns="77950" bIns="77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37" b="1">
                <a:latin typeface="Figtree"/>
                <a:ea typeface="Figtree"/>
                <a:cs typeface="Figtree"/>
                <a:sym typeface="Figtree"/>
              </a:rPr>
              <a:t>How we trained our </a:t>
            </a:r>
            <a:r>
              <a:rPr lang="en-US" sz="3837" b="1">
                <a:solidFill>
                  <a:srgbClr val="990033"/>
                </a:solidFill>
                <a:latin typeface="Figtree"/>
                <a:ea typeface="Figtree"/>
                <a:cs typeface="Figtree"/>
                <a:sym typeface="Figtree"/>
              </a:rPr>
              <a:t>predictor:</a:t>
            </a:r>
            <a:endParaRPr sz="3837" b="1">
              <a:solidFill>
                <a:srgbClr val="990033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0592342" y="5143067"/>
            <a:ext cx="4803900" cy="647700"/>
          </a:xfrm>
          <a:prstGeom prst="rect">
            <a:avLst/>
          </a:prstGeom>
          <a:solidFill>
            <a:schemeClr val="lt2"/>
          </a:solidFill>
          <a:ln w="243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950" tIns="77950" rIns="77950" bIns="77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Font typeface="Arial"/>
              <a:buNone/>
            </a:pPr>
            <a:r>
              <a:rPr lang="en-US" sz="341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Current Trajectory</a:t>
            </a:r>
            <a:endParaRPr sz="341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9777560" y="6308096"/>
            <a:ext cx="6444900" cy="870000"/>
          </a:xfrm>
          <a:prstGeom prst="rect">
            <a:avLst/>
          </a:prstGeom>
          <a:solidFill>
            <a:schemeClr val="lt2"/>
          </a:solidFill>
          <a:ln w="243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950" tIns="77950" rIns="77950" bIns="77950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43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Predictor Estimates</a:t>
            </a:r>
            <a:endParaRPr sz="2643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6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Optimal Speculative Steps (K)</a:t>
            </a:r>
            <a:endParaRPr sz="3496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cxnSp>
        <p:nvCxnSpPr>
          <p:cNvPr id="39" name="Google Shape;39;p4"/>
          <p:cNvCxnSpPr>
            <a:stCxn id="37" idx="2"/>
            <a:endCxn id="38" idx="0"/>
          </p:cNvCxnSpPr>
          <p:nvPr/>
        </p:nvCxnSpPr>
        <p:spPr>
          <a:xfrm>
            <a:off x="32994292" y="5790767"/>
            <a:ext cx="5700" cy="517200"/>
          </a:xfrm>
          <a:prstGeom prst="straightConnector1">
            <a:avLst/>
          </a:prstGeom>
          <a:noFill/>
          <a:ln w="324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" name="Google Shape;40;p4"/>
          <p:cNvSpPr txBox="1"/>
          <p:nvPr/>
        </p:nvSpPr>
        <p:spPr>
          <a:xfrm>
            <a:off x="22739482" y="5108049"/>
            <a:ext cx="7043100" cy="23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950" tIns="77950" rIns="77950" bIns="77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40">
                <a:latin typeface="Figtree"/>
                <a:ea typeface="Figtree"/>
                <a:cs typeface="Figtree"/>
                <a:sym typeface="Figtree"/>
              </a:rPr>
              <a:t>Optimal k: </a:t>
            </a:r>
            <a:r>
              <a:rPr lang="en-US" sz="324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the number of speculative steps that the approximation agent can generate correctly from current state before first mismatch.</a:t>
            </a:r>
            <a:endParaRPr sz="324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22746446" y="7857716"/>
            <a:ext cx="5480100" cy="7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950" tIns="77950" rIns="77950" bIns="77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40">
                <a:latin typeface="Figtree"/>
                <a:ea typeface="Figtree"/>
                <a:cs typeface="Figtree"/>
                <a:sym typeface="Figtree"/>
              </a:rPr>
              <a:t>Cheap Agent Approximates:</a:t>
            </a:r>
            <a:endParaRPr sz="324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8402787" y="7944714"/>
            <a:ext cx="2389200" cy="523200"/>
          </a:xfrm>
          <a:prstGeom prst="rect">
            <a:avLst/>
          </a:prstGeom>
          <a:solidFill>
            <a:schemeClr val="lt1"/>
          </a:solidFill>
          <a:ln w="8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950" tIns="77950" rIns="77950" bIns="77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10">
                <a:latin typeface="Figtree"/>
                <a:ea typeface="Figtree"/>
                <a:cs typeface="Figtree"/>
                <a:sym typeface="Figtree"/>
              </a:rPr>
              <a:t>Step 1</a:t>
            </a:r>
            <a:endParaRPr sz="341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22786882" y="8509543"/>
            <a:ext cx="4659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950" tIns="77950" rIns="77950" bIns="77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40">
                <a:latin typeface="Figtree"/>
                <a:ea typeface="Figtree"/>
                <a:cs typeface="Figtree"/>
                <a:sym typeface="Figtree"/>
              </a:rPr>
              <a:t>Strong Agent Verifies:</a:t>
            </a:r>
            <a:endParaRPr sz="324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8402787" y="8583006"/>
            <a:ext cx="2389200" cy="523200"/>
          </a:xfrm>
          <a:prstGeom prst="rect">
            <a:avLst/>
          </a:prstGeom>
          <a:solidFill>
            <a:srgbClr val="D9EAD3"/>
          </a:solidFill>
          <a:ln w="8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950" tIns="77950" rIns="77950" bIns="77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10">
                <a:latin typeface="Figtree"/>
                <a:ea typeface="Figtree"/>
                <a:cs typeface="Figtree"/>
                <a:sym typeface="Figtree"/>
              </a:rPr>
              <a:t>Step 1 ✅</a:t>
            </a:r>
            <a:endParaRPr sz="341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3790806" y="8568853"/>
            <a:ext cx="2389200" cy="523200"/>
          </a:xfrm>
          <a:prstGeom prst="rect">
            <a:avLst/>
          </a:prstGeom>
          <a:solidFill>
            <a:srgbClr val="F4CCCC"/>
          </a:solidFill>
          <a:ln w="8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950" tIns="77950" rIns="77950" bIns="77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10">
                <a:latin typeface="Figtree"/>
                <a:ea typeface="Figtree"/>
                <a:cs typeface="Figtree"/>
                <a:sym typeface="Figtree"/>
              </a:rPr>
              <a:t>Step 3 ❌</a:t>
            </a:r>
            <a:endParaRPr sz="341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22812768" y="9095354"/>
            <a:ext cx="4312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950" tIns="77950" rIns="77950" bIns="77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40">
                <a:latin typeface="Figtree"/>
                <a:ea typeface="Figtree"/>
                <a:cs typeface="Figtree"/>
                <a:sym typeface="Figtree"/>
              </a:rPr>
              <a:t>Rewards</a:t>
            </a:r>
            <a:r>
              <a:rPr lang="en-US" sz="3410">
                <a:latin typeface="Figtree"/>
                <a:ea typeface="Figtree"/>
                <a:cs typeface="Figtree"/>
                <a:sym typeface="Figtree"/>
              </a:rPr>
              <a:t>:</a:t>
            </a:r>
            <a:endParaRPr sz="341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29204025" y="9221293"/>
            <a:ext cx="1035300" cy="444300"/>
          </a:xfrm>
          <a:prstGeom prst="rect">
            <a:avLst/>
          </a:prstGeom>
          <a:solidFill>
            <a:srgbClr val="D9EAD3"/>
          </a:solidFill>
          <a:ln w="8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950" tIns="77950" rIns="77950" bIns="77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10">
                <a:latin typeface="Figtree"/>
                <a:ea typeface="Figtree"/>
                <a:cs typeface="Figtree"/>
                <a:sym typeface="Figtree"/>
              </a:rPr>
              <a:t>+1 </a:t>
            </a:r>
            <a:endParaRPr sz="341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1813042" y="9227004"/>
            <a:ext cx="1035300" cy="444300"/>
          </a:xfrm>
          <a:prstGeom prst="rect">
            <a:avLst/>
          </a:prstGeom>
          <a:solidFill>
            <a:srgbClr val="D9EAD3"/>
          </a:solidFill>
          <a:ln w="8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950" tIns="77950" rIns="77950" bIns="77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10">
                <a:latin typeface="Figtree"/>
                <a:ea typeface="Figtree"/>
                <a:cs typeface="Figtree"/>
                <a:sym typeface="Figtree"/>
              </a:rPr>
              <a:t>+1 </a:t>
            </a:r>
            <a:endParaRPr sz="341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4594921" y="9206489"/>
            <a:ext cx="1035300" cy="444300"/>
          </a:xfrm>
          <a:prstGeom prst="rect">
            <a:avLst/>
          </a:prstGeom>
          <a:solidFill>
            <a:srgbClr val="F4CCCC"/>
          </a:solidFill>
          <a:ln w="8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950" tIns="77950" rIns="77950" bIns="77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10">
                <a:latin typeface="Figtree"/>
                <a:ea typeface="Figtree"/>
                <a:cs typeface="Figtree"/>
                <a:sym typeface="Figtree"/>
              </a:rPr>
              <a:t>0 </a:t>
            </a:r>
            <a:endParaRPr sz="341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22861504" y="10161624"/>
            <a:ext cx="13484400" cy="23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950" tIns="77950" rIns="77950" bIns="77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40">
                <a:latin typeface="Figtree"/>
                <a:ea typeface="Figtree"/>
                <a:cs typeface="Figtree"/>
                <a:sym typeface="Figtree"/>
              </a:rPr>
              <a:t>Return = (+1) + (+1) + 0 = 2</a:t>
            </a:r>
            <a:endParaRPr sz="3240"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82"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40">
                <a:latin typeface="Figtree"/>
                <a:ea typeface="Figtree"/>
                <a:cs typeface="Figtree"/>
                <a:sym typeface="Figtree"/>
              </a:rPr>
              <a:t>Small </a:t>
            </a:r>
            <a:r>
              <a:rPr lang="en-US" sz="3240">
                <a:solidFill>
                  <a:srgbClr val="980000"/>
                </a:solidFill>
                <a:latin typeface="Figtree"/>
                <a:ea typeface="Figtree"/>
                <a:cs typeface="Figtree"/>
                <a:sym typeface="Figtree"/>
              </a:rPr>
              <a:t>predictor</a:t>
            </a:r>
            <a:r>
              <a:rPr lang="en-US" sz="3240">
                <a:latin typeface="Figtree"/>
                <a:ea typeface="Figtree"/>
                <a:cs typeface="Figtree"/>
                <a:sym typeface="Figtree"/>
              </a:rPr>
              <a:t> (DistillBERT) learns to predict the optimal speculative steps k, which gives maximum speedup without invalid approximations.</a:t>
            </a:r>
            <a:endParaRPr sz="3240"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82"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40" b="1">
                <a:latin typeface="Figtree"/>
                <a:ea typeface="Figtree"/>
                <a:cs typeface="Figtree"/>
                <a:sym typeface="Figtree"/>
              </a:rPr>
              <a:t>Trained Async</a:t>
            </a:r>
            <a:r>
              <a:rPr lang="en-US" sz="3240">
                <a:latin typeface="Figtree"/>
                <a:ea typeface="Figtree"/>
                <a:cs typeface="Figtree"/>
                <a:sym typeface="Figtree"/>
              </a:rPr>
              <a:t> - background thread, never blocks the planning pipeline.</a:t>
            </a:r>
            <a:endParaRPr sz="3240"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52" name="Google Shape;52;p4" title="Microsoft-Research-logo.jpg"/>
          <p:cNvPicPr preferRelativeResize="0"/>
          <p:nvPr/>
        </p:nvPicPr>
        <p:blipFill rotWithShape="1">
          <a:blip r:embed="rId3">
            <a:alphaModFix/>
          </a:blip>
          <a:srcRect l="10724" t="17976" r="13271" b="23925"/>
          <a:stretch/>
        </p:blipFill>
        <p:spPr>
          <a:xfrm>
            <a:off x="1184025" y="1563422"/>
            <a:ext cx="3938448" cy="1559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4" title="gdm_logo.1.png"/>
          <p:cNvPicPr preferRelativeResize="0"/>
          <p:nvPr/>
        </p:nvPicPr>
        <p:blipFill rotWithShape="1">
          <a:blip r:embed="rId4">
            <a:alphaModFix/>
          </a:blip>
          <a:srcRect l="6642" t="16872" r="8309" b="71676"/>
          <a:stretch/>
        </p:blipFill>
        <p:spPr>
          <a:xfrm>
            <a:off x="1278287" y="2894758"/>
            <a:ext cx="6291024" cy="1141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4" title="johns-hopkins-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0841" y="497907"/>
            <a:ext cx="5995843" cy="114178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 txBox="1"/>
          <p:nvPr/>
        </p:nvSpPr>
        <p:spPr>
          <a:xfrm>
            <a:off x="1224199" y="5049663"/>
            <a:ext cx="11077500" cy="8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300" tIns="95300" rIns="95300" bIns="953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98" dirty="0">
                <a:latin typeface="Figtree"/>
                <a:ea typeface="Figtree"/>
                <a:cs typeface="Figtree"/>
                <a:sym typeface="Figtree"/>
              </a:rPr>
              <a:t>Problem with </a:t>
            </a:r>
            <a:r>
              <a:rPr lang="en-US" sz="4298" b="1" dirty="0">
                <a:latin typeface="Figtree"/>
                <a:ea typeface="Figtree"/>
                <a:cs typeface="Figtree"/>
                <a:sym typeface="Figtree"/>
              </a:rPr>
              <a:t>fixed-k</a:t>
            </a:r>
            <a:r>
              <a:rPr lang="en-US" sz="4298" dirty="0">
                <a:latin typeface="Figtree"/>
                <a:ea typeface="Figtree"/>
                <a:cs typeface="Figtree"/>
                <a:sym typeface="Figtree"/>
              </a:rPr>
              <a:t> speculative planning</a:t>
            </a:r>
            <a:endParaRPr sz="4298" dirty="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31136005" y="7939716"/>
            <a:ext cx="2389200" cy="523200"/>
          </a:xfrm>
          <a:prstGeom prst="rect">
            <a:avLst/>
          </a:prstGeom>
          <a:solidFill>
            <a:schemeClr val="lt1"/>
          </a:solidFill>
          <a:ln w="8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950" tIns="77950" rIns="77950" bIns="77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10">
                <a:latin typeface="Figtree"/>
                <a:ea typeface="Figtree"/>
                <a:cs typeface="Figtree"/>
                <a:sym typeface="Figtree"/>
              </a:rPr>
              <a:t>Step 2</a:t>
            </a:r>
            <a:endParaRPr sz="341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1136005" y="8583369"/>
            <a:ext cx="2389200" cy="523200"/>
          </a:xfrm>
          <a:prstGeom prst="rect">
            <a:avLst/>
          </a:prstGeom>
          <a:solidFill>
            <a:srgbClr val="D9EAD3"/>
          </a:solidFill>
          <a:ln w="8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950" tIns="77950" rIns="77950" bIns="77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10">
                <a:latin typeface="Figtree"/>
                <a:ea typeface="Figtree"/>
                <a:cs typeface="Figtree"/>
                <a:sym typeface="Figtree"/>
              </a:rPr>
              <a:t>Step 2 ✅</a:t>
            </a:r>
            <a:endParaRPr sz="341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33790806" y="7939726"/>
            <a:ext cx="2389200" cy="523200"/>
          </a:xfrm>
          <a:prstGeom prst="rect">
            <a:avLst/>
          </a:prstGeom>
          <a:solidFill>
            <a:schemeClr val="lt1"/>
          </a:solidFill>
          <a:ln w="8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950" tIns="77950" rIns="77950" bIns="77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10">
                <a:latin typeface="Figtree"/>
                <a:ea typeface="Figtree"/>
                <a:cs typeface="Figtree"/>
                <a:sym typeface="Figtree"/>
              </a:rPr>
              <a:t>Step 3</a:t>
            </a:r>
            <a:endParaRPr sz="3410"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60" name="Google Shape;60;p4" title="UCSB-Logo.jpg"/>
          <p:cNvPicPr preferRelativeResize="0"/>
          <p:nvPr/>
        </p:nvPicPr>
        <p:blipFill rotWithShape="1">
          <a:blip r:embed="rId6">
            <a:alphaModFix/>
          </a:blip>
          <a:srcRect l="8679" t="27398" r="7548" b="30944"/>
          <a:stretch/>
        </p:blipFill>
        <p:spPr>
          <a:xfrm>
            <a:off x="5084370" y="1712579"/>
            <a:ext cx="2422805" cy="12047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8100745" y="4018330"/>
            <a:ext cx="5570260" cy="854100"/>
          </a:xfrm>
          <a:prstGeom prst="rect">
            <a:avLst/>
          </a:prstGeom>
          <a:solidFill>
            <a:schemeClr val="lt1"/>
          </a:solidFill>
          <a:ln w="99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5300" tIns="95300" rIns="95300" bIns="953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59"/>
          </a:p>
        </p:txBody>
      </p:sp>
      <p:sp>
        <p:nvSpPr>
          <p:cNvPr id="62" name="Google Shape;62;p4"/>
          <p:cNvSpPr txBox="1"/>
          <p:nvPr/>
        </p:nvSpPr>
        <p:spPr>
          <a:xfrm>
            <a:off x="8420729" y="3977520"/>
            <a:ext cx="5767258" cy="1023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300" tIns="95300" rIns="95300" bIns="953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FF9900"/>
                </a:solidFill>
                <a:latin typeface="Figtree"/>
                <a:ea typeface="Figtree"/>
                <a:cs typeface="Figtree"/>
                <a:sym typeface="Figtree"/>
              </a:rPr>
              <a:t>Why Dynamic?</a:t>
            </a:r>
            <a:endParaRPr sz="5400" b="1" dirty="0">
              <a:solidFill>
                <a:srgbClr val="FF99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37581168" y="9287667"/>
            <a:ext cx="4803900" cy="31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950" tIns="77950" rIns="77950" bIns="77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40" b="1" dirty="0">
                <a:solidFill>
                  <a:schemeClr val="bg2"/>
                </a:solidFill>
                <a:latin typeface="Figtree"/>
                <a:ea typeface="Figtree"/>
                <a:cs typeface="Figtree"/>
                <a:sym typeface="Figtree"/>
              </a:rPr>
              <a:t>Training-time bias control through</a:t>
            </a:r>
            <a:r>
              <a:rPr lang="en-US" sz="3240" b="1" dirty="0">
                <a:solidFill>
                  <a:schemeClr val="bg2"/>
                </a:solidFill>
              </a:rPr>
              <a:t> </a:t>
            </a:r>
            <a:r>
              <a:rPr lang="en-US" sz="3240" b="1" dirty="0">
                <a:solidFill>
                  <a:schemeClr val="bg2"/>
                </a:solidFill>
                <a:latin typeface="Figtree"/>
                <a:ea typeface="Figtree"/>
                <a:cs typeface="Figtree"/>
                <a:sym typeface="Figtree"/>
              </a:rPr>
              <a:t>𝝉</a:t>
            </a:r>
            <a:endParaRPr sz="3240" b="1" dirty="0">
              <a:solidFill>
                <a:schemeClr val="bg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389805" lvl="0" indent="-400634" algn="l" rtl="0">
              <a:lnSpc>
                <a:spcPct val="100000"/>
              </a:lnSpc>
              <a:spcBef>
                <a:spcPts val="1023"/>
              </a:spcBef>
              <a:spcAft>
                <a:spcPts val="0"/>
              </a:spcAft>
              <a:buSzPts val="3240"/>
              <a:buFont typeface="Figtree"/>
              <a:buChar char="●"/>
            </a:pPr>
            <a:r>
              <a:rPr lang="en-US" sz="3240" dirty="0">
                <a:latin typeface="Figtree"/>
                <a:ea typeface="Figtree"/>
                <a:cs typeface="Figtree"/>
                <a:sym typeface="Figtree"/>
              </a:rPr>
              <a:t>Low 𝝉 (conservative k): cheaper, slower</a:t>
            </a:r>
            <a:endParaRPr sz="3240" dirty="0">
              <a:latin typeface="Figtree"/>
              <a:ea typeface="Figtree"/>
              <a:cs typeface="Figtree"/>
              <a:sym typeface="Figtree"/>
            </a:endParaRPr>
          </a:p>
          <a:p>
            <a:pPr marL="389805" marR="0" lvl="0" indent="-40063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Font typeface="Figtree"/>
              <a:buChar char="●"/>
            </a:pPr>
            <a:r>
              <a:rPr lang="en-US" sz="3240" dirty="0">
                <a:latin typeface="Figtree"/>
                <a:ea typeface="Figtree"/>
                <a:cs typeface="Figtree"/>
                <a:sym typeface="Figtree"/>
              </a:rPr>
              <a:t>High </a:t>
            </a:r>
            <a:r>
              <a:rPr lang="en-US" sz="3240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𝝉 </a:t>
            </a:r>
            <a:r>
              <a:rPr lang="en-US" sz="3240" dirty="0">
                <a:latin typeface="Figtree"/>
                <a:ea typeface="Figtree"/>
                <a:cs typeface="Figtree"/>
                <a:sym typeface="Figtree"/>
              </a:rPr>
              <a:t> (aggressive k): costlier, </a:t>
            </a:r>
            <a:r>
              <a:rPr lang="en-US" sz="3240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faster</a:t>
            </a:r>
            <a:endParaRPr sz="3240" dirty="0"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ctr" rtl="0">
              <a:lnSpc>
                <a:spcPct val="100000"/>
              </a:lnSpc>
              <a:spcBef>
                <a:spcPts val="1023"/>
              </a:spcBef>
              <a:spcAft>
                <a:spcPts val="0"/>
              </a:spcAft>
              <a:buNone/>
            </a:pPr>
            <a:endParaRPr sz="1876" dirty="0"/>
          </a:p>
        </p:txBody>
      </p:sp>
      <p:sp>
        <p:nvSpPr>
          <p:cNvPr id="65" name="Google Shape;65;p4"/>
          <p:cNvSpPr txBox="1"/>
          <p:nvPr/>
        </p:nvSpPr>
        <p:spPr>
          <a:xfrm>
            <a:off x="-5531675" y="2079275"/>
            <a:ext cx="10200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Google Shape;72;p4"/>
              <p:cNvSpPr txBox="1"/>
              <p:nvPr/>
            </p:nvSpPr>
            <p:spPr>
              <a:xfrm>
                <a:off x="38183739" y="14866382"/>
                <a:ext cx="4376018" cy="660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  <a:spcBef>
                    <a:spcPts val="1200"/>
                  </a:spcBef>
                </a:pPr>
                <a:r>
                  <a:rPr lang="en" altLang="zh-CN" sz="3600" dirty="0"/>
                  <a:t>DSP achieves a better </a:t>
                </a:r>
                <a:r>
                  <a:rPr lang="en" altLang="zh-CN" sz="3600" b="1" dirty="0">
                    <a:solidFill>
                      <a:srgbClr val="C00000"/>
                    </a:solidFill>
                  </a:rPr>
                  <a:t>latency–cost Pareto frontier </a:t>
                </a:r>
                <a:r>
                  <a:rPr lang="en" altLang="zh-CN" sz="3600" dirty="0"/>
                  <a:t>than fixed-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" altLang="zh-CN" sz="3600" i="1" dirty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" altLang="zh-CN" sz="3600" dirty="0"/>
                  <a:t> baselines</a:t>
                </a:r>
              </a:p>
              <a:p>
                <a:pPr marL="457200" indent="-457200">
                  <a:lnSpc>
                    <a:spcPct val="115000"/>
                  </a:lnSpc>
                  <a:buClr>
                    <a:schemeClr val="dk1"/>
                  </a:buClr>
                  <a:buSzPts val="3600"/>
                  <a:buFont typeface="Figtree"/>
                  <a:buChar char="●"/>
                </a:pPr>
                <a:r>
                  <a:rPr lang="en-US" altLang="zh-CN" sz="3600" dirty="0">
                    <a:latin typeface="Figtree"/>
                    <a:ea typeface="Figtree"/>
                    <a:cs typeface="Figtree"/>
                    <a:sym typeface="Figtree"/>
                  </a:rPr>
                  <a:t>Up to </a:t>
                </a:r>
                <a:r>
                  <a:rPr lang="en-US" altLang="zh-CN" sz="3600" b="1" dirty="0">
                    <a:solidFill>
                      <a:srgbClr val="C00000"/>
                    </a:solidFill>
                    <a:latin typeface="Figtree"/>
                    <a:ea typeface="Figtree"/>
                    <a:cs typeface="Figtree"/>
                    <a:sym typeface="Figtree"/>
                  </a:rPr>
                  <a:t>30%</a:t>
                </a:r>
                <a:r>
                  <a:rPr lang="en-US" altLang="zh-CN" sz="3600" dirty="0">
                    <a:latin typeface="Figtree"/>
                    <a:ea typeface="Figtree"/>
                    <a:cs typeface="Figtree"/>
                    <a:sym typeface="Figtree"/>
                  </a:rPr>
                  <a:t> lower total cost</a:t>
                </a:r>
              </a:p>
              <a:p>
                <a:pPr marL="457200" indent="-457200">
                  <a:lnSpc>
                    <a:spcPct val="115000"/>
                  </a:lnSpc>
                  <a:buClr>
                    <a:schemeClr val="dk1"/>
                  </a:buClr>
                  <a:buSzPts val="3600"/>
                  <a:buFont typeface="Figtree"/>
                  <a:buChar char="●"/>
                </a:pPr>
                <a:r>
                  <a:rPr lang="en-US" altLang="zh-CN" sz="3600" dirty="0">
                    <a:latin typeface="Figtree"/>
                    <a:ea typeface="Figtree"/>
                    <a:cs typeface="Figtree"/>
                    <a:sym typeface="Figtree"/>
                  </a:rPr>
                  <a:t>Up to </a:t>
                </a:r>
                <a:r>
                  <a:rPr lang="en-US" altLang="zh-CN" sz="3600" b="1" dirty="0">
                    <a:solidFill>
                      <a:srgbClr val="C00000"/>
                    </a:solidFill>
                    <a:latin typeface="Figtree"/>
                    <a:ea typeface="Figtree"/>
                    <a:cs typeface="Figtree"/>
                    <a:sym typeface="Figtree"/>
                  </a:rPr>
                  <a:t>60%</a:t>
                </a:r>
                <a:r>
                  <a:rPr lang="en-US" altLang="zh-CN" sz="3600" dirty="0">
                    <a:latin typeface="Figtree"/>
                    <a:ea typeface="Figtree"/>
                    <a:cs typeface="Figtree"/>
                    <a:sym typeface="Figtree"/>
                  </a:rPr>
                  <a:t> lower unnecessary cost</a:t>
                </a:r>
                <a:endParaRPr sz="3600" dirty="0">
                  <a:latin typeface="Figtree"/>
                  <a:ea typeface="Figtree"/>
                  <a:cs typeface="Figtree"/>
                  <a:sym typeface="Figtree"/>
                </a:endParaRPr>
              </a:p>
              <a:p>
                <a:pPr marL="457200" marR="0" lvl="0" indent="-4572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Figtree"/>
                  <a:buChar char="●"/>
                </a:pPr>
                <a:r>
                  <a:rPr lang="en-US" sz="3600" b="1" dirty="0">
                    <a:solidFill>
                      <a:srgbClr val="C00000"/>
                    </a:solidFill>
                    <a:latin typeface="Figtree"/>
                    <a:ea typeface="Figtree"/>
                    <a:cs typeface="Figtree"/>
                    <a:sym typeface="Figtree"/>
                  </a:rPr>
                  <a:t>40% </a:t>
                </a:r>
                <a:r>
                  <a:rPr lang="en-US" sz="3600" dirty="0">
                    <a:latin typeface="Figtree"/>
                    <a:ea typeface="Figtree"/>
                    <a:cs typeface="Figtree"/>
                    <a:sym typeface="Figtree"/>
                  </a:rPr>
                  <a:t>lower sustained system pressure</a:t>
                </a:r>
                <a:endParaRPr sz="3600" dirty="0">
                  <a:latin typeface="Figtree"/>
                  <a:ea typeface="Figtree"/>
                  <a:cs typeface="Figtree"/>
                  <a:sym typeface="Figtree"/>
                </a:endParaRPr>
              </a:p>
              <a:p>
                <a:pPr marL="0" marR="0" lvl="0" indent="0" algn="l" rtl="0">
                  <a:lnSpc>
                    <a:spcPct val="115000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sz="3600" dirty="0">
                  <a:latin typeface="Figtree"/>
                  <a:ea typeface="Figtree"/>
                  <a:cs typeface="Figtree"/>
                  <a:sym typeface="Figtree"/>
                </a:endParaRPr>
              </a:p>
            </p:txBody>
          </p:sp>
        </mc:Choice>
        <mc:Fallback>
          <p:sp>
            <p:nvSpPr>
              <p:cNvPr id="72" name="Google Shape;72;p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3739" y="14866382"/>
                <a:ext cx="4376018" cy="6608700"/>
              </a:xfrm>
              <a:prstGeom prst="rect">
                <a:avLst/>
              </a:prstGeom>
              <a:blipFill>
                <a:blip r:embed="rId7"/>
                <a:stretch>
                  <a:fillRect l="-4335" r="-6358" b="-120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00A21EC2-03F0-F9D8-0D4F-73A3651FCF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7197" y="6045720"/>
            <a:ext cx="10236516" cy="520037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37DC7EB-994D-8616-2CF5-DBEF68B6D1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94061" y="4753966"/>
            <a:ext cx="9447588" cy="653290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D8CCAF8-020F-C9AB-7EA8-71EB78FEDD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6697" y="14020800"/>
            <a:ext cx="14847436" cy="880440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50ED3B1-DDBC-857A-0C25-FDD5A96522D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84935" y="13391234"/>
            <a:ext cx="15036785" cy="515114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B5F8281-9F08-48F3-0927-AD800A7DA18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327849" y="18457667"/>
            <a:ext cx="7855890" cy="467822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227064B-09CC-3EA0-6668-424C296D3E0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489376" y="18466174"/>
            <a:ext cx="7855892" cy="467822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F0144B8-FEDF-9B73-6958-001EEE300AC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224770" y="4263541"/>
            <a:ext cx="5024126" cy="502412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820CE9C2-D8BD-B7E4-7129-7309738489C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287677" y="580555"/>
            <a:ext cx="2271683" cy="263036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707B89A5-0C70-FBE1-64D1-B695F84B681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878939" y="567540"/>
            <a:ext cx="2261063" cy="2630370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EB0EE2D9-79DB-DF40-0FED-C9B95FAC6CA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422729" y="531358"/>
            <a:ext cx="2271683" cy="26565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248</Words>
  <Application>Microsoft Macintosh PowerPoint</Application>
  <PresentationFormat>自定义</PresentationFormat>
  <Paragraphs>42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Figtree</vt:lpstr>
      <vt:lpstr>Montserrat ExtraBold</vt:lpstr>
      <vt:lpstr>Arial</vt:lpstr>
      <vt:lpstr>Cambria Math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Yilin Guan</cp:lastModifiedBy>
  <cp:revision>3</cp:revision>
  <cp:lastPrinted>2026-04-20T04:55:26Z</cp:lastPrinted>
  <dcterms:modified xsi:type="dcterms:W3CDTF">2026-04-20T05:24:58Z</dcterms:modified>
</cp:coreProperties>
</file>